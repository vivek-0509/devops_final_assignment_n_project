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646602-f121-e9d4-69ed-b083b917e033}">
          <p14:sldIdLst>
            <p14:sldId id="256"/>
            <p14:sldId id="257"/>
          </p14:sldIdLst>
        </p14:section>
        <p14:section name="Project" id="{d86630b6-d985-ad33-afb3-bc447bd40c90}">
          <p14:sldIdLst>
            <p14:sldId id="258"/>
            <p14:sldId id="259"/>
            <p14:sldId id="260"/>
          </p14:sldIdLst>
        </p14:section>
        <p14:section name="Build" id="{79a87063-ad76-8f15-65e8-0b6fb261e86d}">
          <p14:sldIdLst>
            <p14:sldId id="261"/>
          </p14:sldIdLst>
        </p14:section>
        <p14:section name="Deliver" id="{6c12bd7a-0aeb-1c4a-a41b-bcc26f4ed314}">
          <p14:sldIdLst>
            <p14:sldId id="262"/>
            <p14:sldId id="263"/>
          </p14:sldIdLst>
        </p14:section>
        <p14:section name="Run" id="{dc89be1d-2f7b-a3b0-feec-13e035cc0b4c}">
          <p14:sldIdLst>
            <p14:sldId id="264"/>
            <p14:sldId id="265"/>
          </p14:sldIdLst>
        </p14:section>
        <p14:section name="Operate" id="{00404364-6f58-68ed-fc87-7ebf675d860d}">
          <p14:sldIdLst>
            <p14:sldId id="266"/>
            <p14:sldId id="267"/>
          </p14:sldIdLst>
        </p14:section>
        <p14:section name="Troubleshooting" id="{edddd97f-13ac-b352-736e-b7da8a920717}">
          <p14:sldIdLst>
            <p14:sldId id="268"/>
          </p14:sldIdLst>
        </p14:section>
        <p14:section name="Wrap-up" id="{d9f7d92c-ed3a-e4cd-6b62-bee56705bfee}">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the project name and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a push triggers the pipeline, the gate protects the registry and the cluster, Argo CD keeps the cluster equal to Git, Prometheus and Grafana watch the running pods, and Terraform provisions the cloud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Argo CD was installed on minikube, synced an Application from Git and restored the replica count after a manual scale-down within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10972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880360"/>
            <a:ext cx="8046720" cy="1280160"/>
          </a:xfrm>
          <a:prstGeom prst="rect">
            <a:avLst/>
          </a:prstGeom>
          <a:noFill/>
          <a:ln/>
        </p:spPr>
        <p:txBody>
          <a:bodyPr wrap="square" rtlCol="0"/>
          <a:lstStyle>
            <a:lvl1pPr algn="l" indent="0" marL="0">
              <a:buNone/>
              <a:defRPr lang="en-US" sz="1800" dirty="0">
                <a:solidFill>
                  <a:srgbClr val="9BB7C9"/>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3000" b="1" dirty="0">
                <a:solidFill>
                  <a:srgbClr val="0B1F33"/>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9BB7C9"/>
                </a:solidFill>
              </a:rPr>
              <a:t>TaskBoard Lite  |  Vivek Singh Solanki  |  24bcs10338</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p:cNvSpPr/>
          <p:nvPr/>
        </p:nvSpPr>
        <p:spPr>
          <a:xfrm>
            <a:off x="6675120" y="-1463040"/>
            <a:ext cx="4206240" cy="4206240"/>
          </a:xfrm>
          <a:prstGeom prst="ellipse">
            <a:avLst/>
          </a:prstGeom>
          <a:solidFill>
            <a:srgbClr val="1C7293">
              <a:alpha val="30000"/>
            </a:srgbClr>
          </a:solidFill>
          <a:ln w="12700">
            <a:solidFill>
              <a:srgbClr val="1C7293">
                <a:alpha val="30000"/>
              </a:srgbClr>
            </a:solidFill>
            <a:prstDash val="solid"/>
          </a:ln>
        </p:spPr>
      </p:sp>
      <p:sp>
        <p:nvSpPr>
          <p:cNvPr id="3" name="rocket circle"/>
          <p:cNvSpPr/>
          <p:nvPr/>
        </p:nvSpPr>
        <p:spPr>
          <a:xfrm>
            <a:off x="548640" y="640080"/>
            <a:ext cx="822960" cy="822960"/>
          </a:xfrm>
          <a:prstGeom prst="ellipse">
            <a:avLst/>
          </a:prstGeom>
          <a:solidFill>
            <a:srgbClr val="02C39A"/>
          </a:solidFill>
          <a:ln w="12700">
            <a:solidFill>
              <a:srgbClr val="02C39A"/>
            </a:solidFill>
            <a:prstDash val="solid"/>
          </a:ln>
        </p:spPr>
      </p:sp>
      <p:pic>
        <p:nvPicPr>
          <p:cNvPr id="4" name="rocket icon" descr="preencoded.png">    </p:cNvPr>
          <p:cNvPicPr>
            <a:picLocks noChangeAspect="1"/>
          </p:cNvPicPr>
          <p:nvPr/>
        </p:nvPicPr>
        <p:blipFill>
          <a:blip r:embed="rId1"/>
          <a:stretch>
            <a:fillRect/>
          </a:stretch>
        </p:blipFill>
        <p:spPr>
          <a:xfrm>
            <a:off x="754380" y="845820"/>
            <a:ext cx="411480" cy="411480"/>
          </a:xfrm>
          <a:prstGeom prst="rect">
            <a:avLst/>
          </a:prstGeom>
        </p:spPr>
      </p:pic>
      <p:sp>
        <p:nvSpPr>
          <p:cNvPr id="5" name="Text 0"/>
          <p:cNvSpPr/>
          <p:nvPr>
            <p:ph idx="100" type="title" hasCustomPrompt="1"/>
          </p:nvPr>
        </p:nvSpPr>
        <p:spPr>
          <a:xfrm>
            <a:off x="548640" y="1737360"/>
            <a:ext cx="8046720" cy="1097280"/>
          </a:xfrm>
          <a:prstGeom prst="rect">
            <a:avLst/>
          </a:prstGeom>
          <a:noFill/>
          <a:ln/>
        </p:spPr>
        <p:txBody>
          <a:bodyPr wrap="square" lIns="0" tIns="0" rIns="0" bIns="0" rtlCol="0"/>
          <a:lstStyle/>
          <a:p>
            <a:pPr algn="l" indent="0" marL="0">
              <a:buNone/>
            </a:pPr>
            <a:r>
              <a:rPr lang="en-US" sz="4000" b="1" dirty="0">
                <a:solidFill>
                  <a:srgbClr val="FFFFFF"/>
                </a:solidFill>
              </a:rPr>
              <a:t>TaskBoard Lite</a:t>
            </a:r>
            <a:endParaRPr lang="en-US" sz="4000" dirty="0"/>
          </a:p>
        </p:txBody>
      </p:sp>
      <p:sp>
        <p:nvSpPr>
          <p:cNvPr id="6" name="Text 0"/>
          <p:cNvSpPr/>
          <p:nvPr>
            <p:ph idx="101" type="body" hasCustomPrompt="1"/>
          </p:nvPr>
        </p:nvSpPr>
        <p:spPr>
          <a:xfrm>
            <a:off x="548640" y="2880360"/>
            <a:ext cx="8046720" cy="1280160"/>
          </a:xfrm>
          <a:prstGeom prst="rect">
            <a:avLst/>
          </a:prstGeom>
          <a:noFill/>
          <a:ln/>
        </p:spPr>
        <p:txBody>
          <a:bodyPr wrap="square" lIns="0" tIns="0" rIns="0" bIns="0" rtlCol="0"/>
          <a:lstStyle/>
          <a:p>
            <a:pPr algn="l" indent="0" marL="0">
              <a:buNone/>
            </a:pPr>
            <a:r>
              <a:rPr lang="en-US" sz="1800" dirty="0">
                <a:solidFill>
                  <a:srgbClr val="9BB7C9"/>
                </a:solidFill>
              </a:rPr>
              <a:t>End-to-end DevOps project: code to production with CI/CD, DevSecOps, Kubernetes, Terraform, monitoring and GitOps</a:t>
            </a:r>
            <a:endParaRPr lang="en-US" sz="1800" dirty="0"/>
          </a:p>
          <a:p>
            <a:pPr algn="l" indent="0" marL="0">
              <a:buNone/>
            </a:pPr>
            <a:r>
              <a:rPr lang="en-US" sz="1400" dirty="0">
                <a:solidFill>
                  <a:srgbClr val="02C39A"/>
                </a:solidFill>
              </a:rPr>
              <a:t>Vivek Singh Solanki  |  Roll No. 24bcs10338  |  Session 21 - Final DevOps Project &amp; Troubleshooting</a:t>
            </a:r>
            <a:endParaRPr lang="en-US" sz="1800" dirty="0"/>
          </a:p>
        </p:txBody>
      </p:sp>
      <p:sp>
        <p:nvSpPr>
          <p:cNvPr id="7" name="Text 4"/>
          <p:cNvSpPr txBox="1"/>
          <p:nvPr/>
        </p:nvSpPr>
        <p:spPr>
          <a:xfrm>
            <a:off x="548640" y="4480560"/>
            <a:ext cx="7315200" cy="274320"/>
          </a:xfrm>
          <a:prstGeom prst="rect">
            <a:avLst/>
          </a:prstGeom>
          <a:noFill/>
          <a:ln/>
        </p:spPr>
        <p:txBody>
          <a:bodyPr wrap="square" lIns="0" tIns="0" rIns="0" bIns="0" rtlCol="0" anchor="ctr"/>
          <a:lstStyle/>
          <a:p>
            <a:pPr indent="0" marL="0">
              <a:buNone/>
            </a:pPr>
            <a:r>
              <a:rPr lang="en-US" sz="1100" dirty="0">
                <a:solidFill>
                  <a:srgbClr val="9BB7C9"/>
                </a:solidFill>
              </a:rPr>
              <a:t>github.com/vivek-0509/Devops_Final_Assignment_N_Project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What this presentation covers</a:t>
            </a:r>
            <a:endParaRPr lang="en-US" sz="3000" dirty="0"/>
          </a:p>
        </p:txBody>
      </p:sp>
      <p:sp>
        <p:nvSpPr>
          <p:cNvPr id="3" name="agenda card 1"/>
          <p:cNvSpPr/>
          <p:nvPr/>
        </p:nvSpPr>
        <p:spPr>
          <a:xfrm>
            <a:off x="457200" y="1188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4" name="num1"/>
          <p:cNvSpPr/>
          <p:nvPr/>
        </p:nvSpPr>
        <p:spPr>
          <a:xfrm>
            <a:off x="640080" y="14173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640080" y="1417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280160" y="1344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Goal &amp; architecture</a:t>
            </a:r>
            <a:endParaRPr lang="en-US" sz="1500" dirty="0"/>
          </a:p>
        </p:txBody>
      </p:sp>
      <p:sp>
        <p:nvSpPr>
          <p:cNvPr id="7" name="Text 5"/>
          <p:cNvSpPr txBox="1"/>
          <p:nvPr/>
        </p:nvSpPr>
        <p:spPr>
          <a:xfrm>
            <a:off x="1280160" y="1627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What TaskBoard Lite is and how every DevOps layer fits together</a:t>
            </a:r>
            <a:endParaRPr lang="en-US" sz="1150" dirty="0"/>
          </a:p>
        </p:txBody>
      </p:sp>
      <p:sp>
        <p:nvSpPr>
          <p:cNvPr id="8" name="agenda card 2"/>
          <p:cNvSpPr/>
          <p:nvPr/>
        </p:nvSpPr>
        <p:spPr>
          <a:xfrm>
            <a:off x="4663440" y="1188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9" name="num2"/>
          <p:cNvSpPr/>
          <p:nvPr/>
        </p:nvSpPr>
        <p:spPr>
          <a:xfrm>
            <a:off x="4846320" y="141732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846320" y="1417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5486400" y="1344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Application &amp; Docker</a:t>
            </a:r>
            <a:endParaRPr lang="en-US" sz="1500" dirty="0"/>
          </a:p>
        </p:txBody>
      </p:sp>
      <p:sp>
        <p:nvSpPr>
          <p:cNvPr id="12" name="Text 10"/>
          <p:cNvSpPr txBox="1"/>
          <p:nvPr/>
        </p:nvSpPr>
        <p:spPr>
          <a:xfrm>
            <a:off x="5486400" y="1627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Flask API, tests, multi-stage Alpine image, docker compose</a:t>
            </a:r>
            <a:endParaRPr lang="en-US" sz="1150" dirty="0"/>
          </a:p>
        </p:txBody>
      </p:sp>
      <p:sp>
        <p:nvSpPr>
          <p:cNvPr id="13" name="agenda card 3"/>
          <p:cNvSpPr/>
          <p:nvPr/>
        </p:nvSpPr>
        <p:spPr>
          <a:xfrm>
            <a:off x="457200" y="2331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4" name="num3"/>
          <p:cNvSpPr/>
          <p:nvPr/>
        </p:nvSpPr>
        <p:spPr>
          <a:xfrm>
            <a:off x="640080" y="256032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640080" y="2560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1280160" y="2487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CI/CD &amp; DevSecOps</a:t>
            </a:r>
            <a:endParaRPr lang="en-US" sz="1500" dirty="0"/>
          </a:p>
        </p:txBody>
      </p:sp>
      <p:sp>
        <p:nvSpPr>
          <p:cNvPr id="17" name="Text 15"/>
          <p:cNvSpPr txBox="1"/>
          <p:nvPr/>
        </p:nvSpPr>
        <p:spPr>
          <a:xfrm>
            <a:off x="1280160" y="2770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GitHub Actions pipeline with SAST, SCA, secret and image scanning gates</a:t>
            </a:r>
            <a:endParaRPr lang="en-US" sz="1150" dirty="0"/>
          </a:p>
        </p:txBody>
      </p:sp>
      <p:sp>
        <p:nvSpPr>
          <p:cNvPr id="18" name="agenda card 4"/>
          <p:cNvSpPr/>
          <p:nvPr/>
        </p:nvSpPr>
        <p:spPr>
          <a:xfrm>
            <a:off x="4663440" y="2331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9" name="num4"/>
          <p:cNvSpPr/>
          <p:nvPr/>
        </p:nvSpPr>
        <p:spPr>
          <a:xfrm>
            <a:off x="4846320" y="256032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4846320" y="2560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5486400" y="2487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Infrastructure &amp; Kubernetes</a:t>
            </a:r>
            <a:endParaRPr lang="en-US" sz="1500" dirty="0"/>
          </a:p>
        </p:txBody>
      </p:sp>
      <p:sp>
        <p:nvSpPr>
          <p:cNvPr id="22" name="Text 20"/>
          <p:cNvSpPr txBox="1"/>
          <p:nvPr/>
        </p:nvSpPr>
        <p:spPr>
          <a:xfrm>
            <a:off x="5486400" y="2770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Terraform on AWS, Helm deployment with ingress, HPA, probes, storage</a:t>
            </a:r>
            <a:endParaRPr lang="en-US" sz="1150" dirty="0"/>
          </a:p>
        </p:txBody>
      </p:sp>
      <p:sp>
        <p:nvSpPr>
          <p:cNvPr id="23" name="agenda card 5"/>
          <p:cNvSpPr/>
          <p:nvPr/>
        </p:nvSpPr>
        <p:spPr>
          <a:xfrm>
            <a:off x="457200" y="3474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4" name="num5"/>
          <p:cNvSpPr/>
          <p:nvPr/>
        </p:nvSpPr>
        <p:spPr>
          <a:xfrm>
            <a:off x="640080" y="3703320"/>
            <a:ext cx="502920" cy="502920"/>
          </a:xfrm>
          <a:prstGeom prst="ellipse">
            <a:avLst/>
          </a:prstGeom>
          <a:solidFill>
            <a:schemeClr val="accent1"/>
          </a:solidFill>
          <a:ln w="12700">
            <a:solidFill>
              <a:schemeClr val="accent1"/>
            </a:solidFill>
            <a:prstDash val="solid"/>
          </a:ln>
        </p:spPr>
      </p:sp>
      <p:sp>
        <p:nvSpPr>
          <p:cNvPr id="25" name="Text 23"/>
          <p:cNvSpPr txBox="1"/>
          <p:nvPr/>
        </p:nvSpPr>
        <p:spPr>
          <a:xfrm>
            <a:off x="640080" y="3703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6" name="Text 24"/>
          <p:cNvSpPr txBox="1"/>
          <p:nvPr/>
        </p:nvSpPr>
        <p:spPr>
          <a:xfrm>
            <a:off x="1280160" y="3630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Monitoring &amp; GitOps</a:t>
            </a:r>
            <a:endParaRPr lang="en-US" sz="1500" dirty="0"/>
          </a:p>
        </p:txBody>
      </p:sp>
      <p:sp>
        <p:nvSpPr>
          <p:cNvPr id="27" name="Text 25"/>
          <p:cNvSpPr txBox="1"/>
          <p:nvPr/>
        </p:nvSpPr>
        <p:spPr>
          <a:xfrm>
            <a:off x="1280160" y="3913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Prometheus, Grafana, alert rules, Argo CD reconciliation</a:t>
            </a:r>
            <a:endParaRPr lang="en-US" sz="1150" dirty="0"/>
          </a:p>
        </p:txBody>
      </p:sp>
      <p:sp>
        <p:nvSpPr>
          <p:cNvPr id="28" name="agenda card 6"/>
          <p:cNvSpPr/>
          <p:nvPr/>
        </p:nvSpPr>
        <p:spPr>
          <a:xfrm>
            <a:off x="4663440" y="3474720"/>
            <a:ext cx="402336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9" name="num6"/>
          <p:cNvSpPr/>
          <p:nvPr/>
        </p:nvSpPr>
        <p:spPr>
          <a:xfrm>
            <a:off x="4846320" y="3703320"/>
            <a:ext cx="502920" cy="502920"/>
          </a:xfrm>
          <a:prstGeom prst="ellipse">
            <a:avLst/>
          </a:prstGeom>
          <a:solidFill>
            <a:schemeClr val="accent1"/>
          </a:solidFill>
          <a:ln w="12700">
            <a:solidFill>
              <a:schemeClr val="accent1"/>
            </a:solidFill>
            <a:prstDash val="solid"/>
          </a:ln>
        </p:spPr>
      </p:sp>
      <p:sp>
        <p:nvSpPr>
          <p:cNvPr id="30" name="Text 28"/>
          <p:cNvSpPr txBox="1"/>
          <p:nvPr/>
        </p:nvSpPr>
        <p:spPr>
          <a:xfrm>
            <a:off x="4846320" y="370332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1" name="Text 29"/>
          <p:cNvSpPr txBox="1"/>
          <p:nvPr/>
        </p:nvSpPr>
        <p:spPr>
          <a:xfrm>
            <a:off x="5486400" y="3630168"/>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Troubleshooting &amp; lessons</a:t>
            </a:r>
            <a:endParaRPr lang="en-US" sz="1500" dirty="0"/>
          </a:p>
        </p:txBody>
      </p:sp>
      <p:sp>
        <p:nvSpPr>
          <p:cNvPr id="32" name="Text 30"/>
          <p:cNvSpPr txBox="1"/>
          <p:nvPr/>
        </p:nvSpPr>
        <p:spPr>
          <a:xfrm>
            <a:off x="5486400" y="3913632"/>
            <a:ext cx="3108960" cy="457200"/>
          </a:xfrm>
          <a:prstGeom prst="rect">
            <a:avLst/>
          </a:prstGeom>
          <a:noFill/>
          <a:ln/>
        </p:spPr>
        <p:txBody>
          <a:bodyPr wrap="square" lIns="0" tIns="0" rIns="0" bIns="0" rtlCol="0" anchor="ctr"/>
          <a:lstStyle/>
          <a:p>
            <a:pPr indent="0" marL="0">
              <a:buNone/>
            </a:pPr>
            <a:r>
              <a:rPr lang="en-US" sz="1150" dirty="0">
                <a:solidFill>
                  <a:schemeClr val="tx2"/>
                </a:solidFill>
              </a:rPr>
              <a:t>Four injected failures fixed, what the project taught me</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Goal: laptop to a monitored cluster</a:t>
            </a:r>
            <a:endParaRPr lang="en-US" sz="3000" dirty="0"/>
          </a:p>
        </p:txBody>
      </p:sp>
      <p:sp>
        <p:nvSpPr>
          <p:cNvPr id="3" name="Text 1"/>
          <p:cNvSpPr txBox="1"/>
          <p:nvPr/>
        </p:nvSpPr>
        <p:spPr>
          <a:xfrm>
            <a:off x="457200" y="1143000"/>
            <a:ext cx="4754880" cy="1005840"/>
          </a:xfrm>
          <a:prstGeom prst="rect">
            <a:avLst/>
          </a:prstGeom>
          <a:noFill/>
          <a:ln/>
        </p:spPr>
        <p:txBody>
          <a:bodyPr wrap="square" lIns="0" tIns="0" rIns="0" bIns="0" rtlCol="0" anchor="ctr"/>
          <a:lstStyle/>
          <a:p>
            <a:pPr indent="0" marL="0">
              <a:buNone/>
            </a:pPr>
            <a:r>
              <a:rPr lang="en-US" sz="1400" dirty="0">
                <a:solidFill>
                  <a:schemeClr val="tx2"/>
                </a:solidFill>
              </a:rPr>
              <a:t>TaskBoard Lite is a small task-management web app (Python/Flask + SQLite, Prometheus metrics). The application is deliberately simple so that the focus stays on the delivery pipeline around it.</a:t>
            </a:r>
            <a:endParaRPr lang="en-US" sz="1400" dirty="0"/>
          </a:p>
        </p:txBody>
      </p:sp>
      <p:sp>
        <p:nvSpPr>
          <p:cNvPr id="4" name="flow Code"/>
          <p:cNvSpPr/>
          <p:nvPr/>
        </p:nvSpPr>
        <p:spPr>
          <a:xfrm>
            <a:off x="457200" y="2331720"/>
            <a:ext cx="868680" cy="685800"/>
          </a:xfrm>
          <a:prstGeom prst="roundRect">
            <a:avLst>
              <a:gd name="adj" fmla="val 10667"/>
            </a:avLst>
          </a:prstGeom>
          <a:solidFill>
            <a:schemeClr val="tx1"/>
          </a:solidFill>
          <a:ln w="12700">
            <a:solidFill>
              <a:schemeClr val="tx1"/>
            </a:solidFill>
            <a:prstDash val="solid"/>
          </a:ln>
        </p:spPr>
      </p:sp>
      <p:sp>
        <p:nvSpPr>
          <p:cNvPr id="5" name="Text 3"/>
          <p:cNvSpPr txBox="1"/>
          <p:nvPr/>
        </p:nvSpPr>
        <p:spPr>
          <a:xfrm>
            <a:off x="457200" y="23317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Code</a:t>
            </a:r>
            <a:endParaRPr lang="en-US" sz="1050" dirty="0"/>
          </a:p>
        </p:txBody>
      </p:sp>
      <p:sp>
        <p:nvSpPr>
          <p:cNvPr id="6" name="Text 4"/>
          <p:cNvSpPr txBox="1"/>
          <p:nvPr/>
        </p:nvSpPr>
        <p:spPr>
          <a:xfrm>
            <a:off x="1307592" y="23317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7" name="flow Git / GitHub"/>
          <p:cNvSpPr/>
          <p:nvPr/>
        </p:nvSpPr>
        <p:spPr>
          <a:xfrm>
            <a:off x="1444752" y="2331720"/>
            <a:ext cx="868680" cy="685800"/>
          </a:xfrm>
          <a:prstGeom prst="roundRect">
            <a:avLst>
              <a:gd name="adj" fmla="val 10667"/>
            </a:avLst>
          </a:prstGeom>
          <a:solidFill>
            <a:schemeClr val="tx1"/>
          </a:solidFill>
          <a:ln w="12700">
            <a:solidFill>
              <a:schemeClr val="tx1"/>
            </a:solidFill>
            <a:prstDash val="solid"/>
          </a:ln>
        </p:spPr>
      </p:sp>
      <p:sp>
        <p:nvSpPr>
          <p:cNvPr id="8" name="Text 6"/>
          <p:cNvSpPr txBox="1"/>
          <p:nvPr/>
        </p:nvSpPr>
        <p:spPr>
          <a:xfrm>
            <a:off x="1444752" y="23317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Git / GitHub</a:t>
            </a:r>
            <a:endParaRPr lang="en-US" sz="1050" dirty="0"/>
          </a:p>
        </p:txBody>
      </p:sp>
      <p:sp>
        <p:nvSpPr>
          <p:cNvPr id="9" name="Text 7"/>
          <p:cNvSpPr txBox="1"/>
          <p:nvPr/>
        </p:nvSpPr>
        <p:spPr>
          <a:xfrm>
            <a:off x="2295144" y="23317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10" name="flow CI pipeline"/>
          <p:cNvSpPr/>
          <p:nvPr/>
        </p:nvSpPr>
        <p:spPr>
          <a:xfrm>
            <a:off x="2432304" y="2331720"/>
            <a:ext cx="868680" cy="685800"/>
          </a:xfrm>
          <a:prstGeom prst="roundRect">
            <a:avLst>
              <a:gd name="adj" fmla="val 10667"/>
            </a:avLst>
          </a:prstGeom>
          <a:solidFill>
            <a:schemeClr val="tx1"/>
          </a:solidFill>
          <a:ln w="12700">
            <a:solidFill>
              <a:schemeClr val="tx1"/>
            </a:solidFill>
            <a:prstDash val="solid"/>
          </a:ln>
        </p:spPr>
      </p:sp>
      <p:sp>
        <p:nvSpPr>
          <p:cNvPr id="11" name="Text 9"/>
          <p:cNvSpPr txBox="1"/>
          <p:nvPr/>
        </p:nvSpPr>
        <p:spPr>
          <a:xfrm>
            <a:off x="2432304" y="23317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CI pipeline</a:t>
            </a:r>
            <a:endParaRPr lang="en-US" sz="1050" dirty="0"/>
          </a:p>
        </p:txBody>
      </p:sp>
      <p:sp>
        <p:nvSpPr>
          <p:cNvPr id="12" name="Text 10"/>
          <p:cNvSpPr txBox="1"/>
          <p:nvPr/>
        </p:nvSpPr>
        <p:spPr>
          <a:xfrm>
            <a:off x="3282696" y="23317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13" name="flow Build &amp; Test"/>
          <p:cNvSpPr/>
          <p:nvPr/>
        </p:nvSpPr>
        <p:spPr>
          <a:xfrm>
            <a:off x="3419856" y="2331720"/>
            <a:ext cx="868680" cy="685800"/>
          </a:xfrm>
          <a:prstGeom prst="roundRect">
            <a:avLst>
              <a:gd name="adj" fmla="val 10667"/>
            </a:avLst>
          </a:prstGeom>
          <a:solidFill>
            <a:schemeClr val="tx1"/>
          </a:solidFill>
          <a:ln w="12700">
            <a:solidFill>
              <a:schemeClr val="tx1"/>
            </a:solidFill>
            <a:prstDash val="solid"/>
          </a:ln>
        </p:spPr>
      </p:sp>
      <p:sp>
        <p:nvSpPr>
          <p:cNvPr id="14" name="Text 12"/>
          <p:cNvSpPr txBox="1"/>
          <p:nvPr/>
        </p:nvSpPr>
        <p:spPr>
          <a:xfrm>
            <a:off x="3419856" y="23317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Build &amp; Test</a:t>
            </a:r>
            <a:endParaRPr lang="en-US" sz="1050" dirty="0"/>
          </a:p>
        </p:txBody>
      </p:sp>
      <p:sp>
        <p:nvSpPr>
          <p:cNvPr id="15" name="Text 13"/>
          <p:cNvSpPr txBox="1"/>
          <p:nvPr/>
        </p:nvSpPr>
        <p:spPr>
          <a:xfrm>
            <a:off x="4270248" y="23317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16" name="flow Security scans"/>
          <p:cNvSpPr/>
          <p:nvPr/>
        </p:nvSpPr>
        <p:spPr>
          <a:xfrm>
            <a:off x="4407408" y="2331720"/>
            <a:ext cx="868680" cy="685800"/>
          </a:xfrm>
          <a:prstGeom prst="roundRect">
            <a:avLst>
              <a:gd name="adj" fmla="val 10667"/>
            </a:avLst>
          </a:prstGeom>
          <a:solidFill>
            <a:schemeClr val="tx1"/>
          </a:solidFill>
          <a:ln w="12700">
            <a:solidFill>
              <a:schemeClr val="tx1"/>
            </a:solidFill>
            <a:prstDash val="solid"/>
          </a:ln>
        </p:spPr>
      </p:sp>
      <p:sp>
        <p:nvSpPr>
          <p:cNvPr id="17" name="Text 15"/>
          <p:cNvSpPr txBox="1"/>
          <p:nvPr/>
        </p:nvSpPr>
        <p:spPr>
          <a:xfrm>
            <a:off x="4407408" y="23317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Security scans</a:t>
            </a:r>
            <a:endParaRPr lang="en-US" sz="1050" dirty="0"/>
          </a:p>
        </p:txBody>
      </p:sp>
      <p:sp>
        <p:nvSpPr>
          <p:cNvPr id="18" name="flow Docker image"/>
          <p:cNvSpPr/>
          <p:nvPr/>
        </p:nvSpPr>
        <p:spPr>
          <a:xfrm>
            <a:off x="457200" y="3246120"/>
            <a:ext cx="868680" cy="685800"/>
          </a:xfrm>
          <a:prstGeom prst="roundRect">
            <a:avLst>
              <a:gd name="adj" fmla="val 10667"/>
            </a:avLst>
          </a:prstGeom>
          <a:solidFill>
            <a:schemeClr val="accent3"/>
          </a:solidFill>
          <a:ln w="12700">
            <a:solidFill>
              <a:schemeClr val="accent3"/>
            </a:solidFill>
            <a:prstDash val="solid"/>
          </a:ln>
        </p:spPr>
      </p:sp>
      <p:sp>
        <p:nvSpPr>
          <p:cNvPr id="19" name="Text 17"/>
          <p:cNvSpPr txBox="1"/>
          <p:nvPr/>
        </p:nvSpPr>
        <p:spPr>
          <a:xfrm>
            <a:off x="457200" y="32461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Docker image</a:t>
            </a:r>
            <a:endParaRPr lang="en-US" sz="1050" dirty="0"/>
          </a:p>
        </p:txBody>
      </p:sp>
      <p:sp>
        <p:nvSpPr>
          <p:cNvPr id="20" name="Text 18"/>
          <p:cNvSpPr txBox="1"/>
          <p:nvPr/>
        </p:nvSpPr>
        <p:spPr>
          <a:xfrm>
            <a:off x="1307592" y="32461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21" name="flow Registry (GHCR)"/>
          <p:cNvSpPr/>
          <p:nvPr/>
        </p:nvSpPr>
        <p:spPr>
          <a:xfrm>
            <a:off x="1444752" y="3246120"/>
            <a:ext cx="868680" cy="685800"/>
          </a:xfrm>
          <a:prstGeom prst="roundRect">
            <a:avLst>
              <a:gd name="adj" fmla="val 10667"/>
            </a:avLst>
          </a:prstGeom>
          <a:solidFill>
            <a:schemeClr val="accent3"/>
          </a:solidFill>
          <a:ln w="12700">
            <a:solidFill>
              <a:schemeClr val="accent3"/>
            </a:solidFill>
            <a:prstDash val="solid"/>
          </a:ln>
        </p:spPr>
      </p:sp>
      <p:sp>
        <p:nvSpPr>
          <p:cNvPr id="22" name="Text 20"/>
          <p:cNvSpPr txBox="1"/>
          <p:nvPr/>
        </p:nvSpPr>
        <p:spPr>
          <a:xfrm>
            <a:off x="1444752" y="32461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Registry (GHCR)</a:t>
            </a:r>
            <a:endParaRPr lang="en-US" sz="1050" dirty="0"/>
          </a:p>
        </p:txBody>
      </p:sp>
      <p:sp>
        <p:nvSpPr>
          <p:cNvPr id="23" name="Text 21"/>
          <p:cNvSpPr txBox="1"/>
          <p:nvPr/>
        </p:nvSpPr>
        <p:spPr>
          <a:xfrm>
            <a:off x="2295144" y="32461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24" name="flow Kubernetes + Helm"/>
          <p:cNvSpPr/>
          <p:nvPr/>
        </p:nvSpPr>
        <p:spPr>
          <a:xfrm>
            <a:off x="2432304" y="3246120"/>
            <a:ext cx="868680" cy="685800"/>
          </a:xfrm>
          <a:prstGeom prst="roundRect">
            <a:avLst>
              <a:gd name="adj" fmla="val 10667"/>
            </a:avLst>
          </a:prstGeom>
          <a:solidFill>
            <a:schemeClr val="accent3"/>
          </a:solidFill>
          <a:ln w="12700">
            <a:solidFill>
              <a:schemeClr val="accent3"/>
            </a:solidFill>
            <a:prstDash val="solid"/>
          </a:ln>
        </p:spPr>
      </p:sp>
      <p:sp>
        <p:nvSpPr>
          <p:cNvPr id="25" name="Text 23"/>
          <p:cNvSpPr txBox="1"/>
          <p:nvPr/>
        </p:nvSpPr>
        <p:spPr>
          <a:xfrm>
            <a:off x="2432304" y="32461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Kubernetes + Helm</a:t>
            </a:r>
            <a:endParaRPr lang="en-US" sz="1050" dirty="0"/>
          </a:p>
        </p:txBody>
      </p:sp>
      <p:sp>
        <p:nvSpPr>
          <p:cNvPr id="26" name="Text 24"/>
          <p:cNvSpPr txBox="1"/>
          <p:nvPr/>
        </p:nvSpPr>
        <p:spPr>
          <a:xfrm>
            <a:off x="3282696" y="32461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27" name="flow Monitoring"/>
          <p:cNvSpPr/>
          <p:nvPr/>
        </p:nvSpPr>
        <p:spPr>
          <a:xfrm>
            <a:off x="3419856" y="3246120"/>
            <a:ext cx="868680" cy="685800"/>
          </a:xfrm>
          <a:prstGeom prst="roundRect">
            <a:avLst>
              <a:gd name="adj" fmla="val 10667"/>
            </a:avLst>
          </a:prstGeom>
          <a:solidFill>
            <a:schemeClr val="accent3"/>
          </a:solidFill>
          <a:ln w="12700">
            <a:solidFill>
              <a:schemeClr val="accent3"/>
            </a:solidFill>
            <a:prstDash val="solid"/>
          </a:ln>
        </p:spPr>
      </p:sp>
      <p:sp>
        <p:nvSpPr>
          <p:cNvPr id="28" name="Text 26"/>
          <p:cNvSpPr txBox="1"/>
          <p:nvPr/>
        </p:nvSpPr>
        <p:spPr>
          <a:xfrm>
            <a:off x="3419856" y="32461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Monitoring</a:t>
            </a:r>
            <a:endParaRPr lang="en-US" sz="1050" dirty="0"/>
          </a:p>
        </p:txBody>
      </p:sp>
      <p:sp>
        <p:nvSpPr>
          <p:cNvPr id="29" name="Text 27"/>
          <p:cNvSpPr txBox="1"/>
          <p:nvPr/>
        </p:nvSpPr>
        <p:spPr>
          <a:xfrm>
            <a:off x="4270248" y="3246120"/>
            <a:ext cx="155448" cy="685800"/>
          </a:xfrm>
          <a:prstGeom prst="rect">
            <a:avLst/>
          </a:prstGeom>
          <a:noFill/>
          <a:ln/>
        </p:spPr>
        <p:txBody>
          <a:bodyPr wrap="square" lIns="0" tIns="0" rIns="0" bIns="0" rtlCol="0" anchor="ctr"/>
          <a:lstStyle/>
          <a:p>
            <a:pPr algn="ctr" indent="0" marL="0">
              <a:buNone/>
            </a:pPr>
            <a:r>
              <a:rPr lang="en-US" sz="1400" dirty="0">
                <a:solidFill>
                  <a:schemeClr val="accent1"/>
                </a:solidFill>
              </a:rPr>
              <a:t>→</a:t>
            </a:r>
            <a:endParaRPr lang="en-US" sz="1400" dirty="0"/>
          </a:p>
        </p:txBody>
      </p:sp>
      <p:sp>
        <p:nvSpPr>
          <p:cNvPr id="30" name="flow GitOps"/>
          <p:cNvSpPr/>
          <p:nvPr/>
        </p:nvSpPr>
        <p:spPr>
          <a:xfrm>
            <a:off x="4407408" y="3246120"/>
            <a:ext cx="868680" cy="685800"/>
          </a:xfrm>
          <a:prstGeom prst="roundRect">
            <a:avLst>
              <a:gd name="adj" fmla="val 10667"/>
            </a:avLst>
          </a:prstGeom>
          <a:solidFill>
            <a:schemeClr val="accent3"/>
          </a:solidFill>
          <a:ln w="12700">
            <a:solidFill>
              <a:schemeClr val="accent3"/>
            </a:solidFill>
            <a:prstDash val="solid"/>
          </a:ln>
        </p:spPr>
      </p:sp>
      <p:sp>
        <p:nvSpPr>
          <p:cNvPr id="31" name="Text 29"/>
          <p:cNvSpPr txBox="1"/>
          <p:nvPr/>
        </p:nvSpPr>
        <p:spPr>
          <a:xfrm>
            <a:off x="4407408" y="3246120"/>
            <a:ext cx="868680" cy="685800"/>
          </a:xfrm>
          <a:prstGeom prst="rect">
            <a:avLst/>
          </a:prstGeom>
          <a:noFill/>
          <a:ln/>
        </p:spPr>
        <p:txBody>
          <a:bodyPr wrap="square" lIns="0" tIns="0" rIns="0" bIns="0" rtlCol="0" anchor="ctr"/>
          <a:lstStyle/>
          <a:p>
            <a:pPr algn="ctr" indent="0" marL="0">
              <a:buNone/>
            </a:pPr>
            <a:r>
              <a:rPr lang="en-US" sz="1050" b="1" dirty="0">
                <a:solidFill>
                  <a:schemeClr val="bg1"/>
                </a:solidFill>
              </a:rPr>
              <a:t>GitOps</a:t>
            </a:r>
            <a:endParaRPr lang="en-US" sz="1050" dirty="0"/>
          </a:p>
        </p:txBody>
      </p:sp>
      <p:sp>
        <p:nvSpPr>
          <p:cNvPr id="32" name="Text 30"/>
          <p:cNvSpPr txBox="1"/>
          <p:nvPr/>
        </p:nvSpPr>
        <p:spPr>
          <a:xfrm>
            <a:off x="457200" y="4206240"/>
            <a:ext cx="4754880" cy="457200"/>
          </a:xfrm>
          <a:prstGeom prst="rect">
            <a:avLst/>
          </a:prstGeom>
          <a:noFill/>
          <a:ln/>
        </p:spPr>
        <p:txBody>
          <a:bodyPr wrap="square" lIns="0" tIns="0" rIns="0" bIns="0" rtlCol="0" anchor="ctr"/>
          <a:lstStyle/>
          <a:p>
            <a:pPr indent="0" marL="0">
              <a:buNone/>
            </a:pPr>
            <a:r>
              <a:rPr lang="en-US" sz="1200" i="1" dirty="0">
                <a:solidFill>
                  <a:schemeClr val="tx2"/>
                </a:solidFill>
              </a:rPr>
              <a:t>Infrastructure provisioned with Terraform on AWS (VPC, subnet, IGW, route table, security group, EC2, S3).</a:t>
            </a:r>
            <a:endParaRPr lang="en-US" sz="1200" dirty="0"/>
          </a:p>
        </p:txBody>
      </p:sp>
      <p:pic>
        <p:nvPicPr>
          <p:cNvPr id="33" name="application UI" descr="/Users/vivek/Desktop/devops_final_assignment/session-21-final-devops-project/final-devops-project/screenshots/app-ui.png">    </p:cNvPr>
          <p:cNvPicPr>
            <a:picLocks noChangeAspect="1"/>
          </p:cNvPicPr>
          <p:nvPr/>
        </p:nvPicPr>
        <p:blipFill>
          <a:blip r:embed="rId1"/>
          <a:stretch>
            <a:fillRect/>
          </a:stretch>
        </p:blipFill>
        <p:spPr>
          <a:xfrm>
            <a:off x="5486400" y="1143000"/>
            <a:ext cx="3200400" cy="1865376"/>
          </a:xfrm>
          <a:prstGeom prst="rect">
            <a:avLst/>
          </a:prstGeom>
        </p:spPr>
      </p:pic>
      <p:sp>
        <p:nvSpPr>
          <p:cNvPr id="34" name="Text 31"/>
          <p:cNvSpPr txBox="1"/>
          <p:nvPr/>
        </p:nvSpPr>
        <p:spPr>
          <a:xfrm>
            <a:off x="5486400" y="3063240"/>
            <a:ext cx="3200400" cy="274320"/>
          </a:xfrm>
          <a:prstGeom prst="rect">
            <a:avLst/>
          </a:prstGeom>
          <a:noFill/>
          <a:ln/>
        </p:spPr>
        <p:txBody>
          <a:bodyPr wrap="square" lIns="0" tIns="0" rIns="0" bIns="0" rtlCol="0" anchor="ctr"/>
          <a:lstStyle/>
          <a:p>
            <a:pPr algn="ctr" indent="0" marL="0">
              <a:buNone/>
            </a:pPr>
            <a:r>
              <a:rPr lang="en-US" sz="1000" dirty="0">
                <a:solidFill>
                  <a:schemeClr val="tx2"/>
                </a:solidFill>
              </a:rPr>
              <a:t>The running application (docker compose)</a:t>
            </a:r>
            <a:endParaRPr lang="en-US" sz="1000" dirty="0"/>
          </a:p>
        </p:txBody>
      </p:sp>
      <p:sp>
        <p:nvSpPr>
          <p:cNvPr id="35" name="flask circle"/>
          <p:cNvSpPr/>
          <p:nvPr/>
        </p:nvSpPr>
        <p:spPr>
          <a:xfrm>
            <a:off x="5486400" y="3566160"/>
            <a:ext cx="548640" cy="548640"/>
          </a:xfrm>
          <a:prstGeom prst="ellipse">
            <a:avLst/>
          </a:prstGeom>
          <a:solidFill>
            <a:srgbClr val="02C39A"/>
          </a:solidFill>
          <a:ln w="12700">
            <a:solidFill>
              <a:srgbClr val="02C39A"/>
            </a:solidFill>
            <a:prstDash val="solid"/>
          </a:ln>
        </p:spPr>
      </p:sp>
      <p:pic>
        <p:nvPicPr>
          <p:cNvPr id="36" name="flask icon" descr="preencoded.png">    </p:cNvPr>
          <p:cNvPicPr>
            <a:picLocks noChangeAspect="1"/>
          </p:cNvPicPr>
          <p:nvPr/>
        </p:nvPicPr>
        <p:blipFill>
          <a:blip r:embed="rId2"/>
          <a:stretch>
            <a:fillRect/>
          </a:stretch>
        </p:blipFill>
        <p:spPr>
          <a:xfrm>
            <a:off x="5623560" y="3703320"/>
            <a:ext cx="274320" cy="274320"/>
          </a:xfrm>
          <a:prstGeom prst="rect">
            <a:avLst/>
          </a:prstGeom>
        </p:spPr>
      </p:pic>
      <p:sp>
        <p:nvSpPr>
          <p:cNvPr id="37" name="Text 33"/>
          <p:cNvSpPr txBox="1"/>
          <p:nvPr/>
        </p:nvSpPr>
        <p:spPr>
          <a:xfrm>
            <a:off x="6172200" y="3611880"/>
            <a:ext cx="2651760" cy="502920"/>
          </a:xfrm>
          <a:prstGeom prst="rect">
            <a:avLst/>
          </a:prstGeom>
          <a:noFill/>
          <a:ln/>
        </p:spPr>
        <p:txBody>
          <a:bodyPr wrap="square" lIns="0" tIns="0" rIns="0" bIns="0" rtlCol="0" anchor="ctr"/>
          <a:lstStyle/>
          <a:p>
            <a:pPr indent="0" marL="0">
              <a:buNone/>
            </a:pPr>
            <a:r>
              <a:rPr lang="en-US" sz="1100" dirty="0">
                <a:solidFill>
                  <a:schemeClr val="tx2"/>
                </a:solidFill>
              </a:rPr>
              <a:t>Flask 3.1  |  SQLite on a PVC  |  /health  /ready  /metrics  /api/tasks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Architecture</a:t>
            </a:r>
            <a:endParaRPr lang="en-US" sz="3000" dirty="0"/>
          </a:p>
        </p:txBody>
      </p:sp>
      <p:sp>
        <p:nvSpPr>
          <p:cNvPr id="3" name="developer"/>
          <p:cNvSpPr/>
          <p:nvPr/>
        </p:nvSpPr>
        <p:spPr>
          <a:xfrm>
            <a:off x="457200" y="1188720"/>
            <a:ext cx="1463040" cy="822960"/>
          </a:xfrm>
          <a:prstGeom prst="roundRect">
            <a:avLst>
              <a:gd name="adj" fmla="val 8889"/>
            </a:avLst>
          </a:prstGeom>
          <a:solidFill>
            <a:srgbClr val="1C7293"/>
          </a:solidFill>
          <a:ln w="12700">
            <a:solidFill>
              <a:srgbClr val="1C7293"/>
            </a:solidFill>
            <a:prstDash val="solid"/>
          </a:ln>
        </p:spPr>
      </p:sp>
      <p:sp>
        <p:nvSpPr>
          <p:cNvPr id="4" name="Text 2"/>
          <p:cNvSpPr txBox="1"/>
          <p:nvPr/>
        </p:nvSpPr>
        <p:spPr>
          <a:xfrm>
            <a:off x="548640" y="1243584"/>
            <a:ext cx="1280160" cy="274320"/>
          </a:xfrm>
          <a:prstGeom prst="rect">
            <a:avLst/>
          </a:prstGeom>
          <a:noFill/>
          <a:ln/>
        </p:spPr>
        <p:txBody>
          <a:bodyPr wrap="square" lIns="0" tIns="0" rIns="0" bIns="0" rtlCol="0" anchor="ctr"/>
          <a:lstStyle/>
          <a:p>
            <a:pPr indent="0" marL="0">
              <a:buNone/>
            </a:pPr>
            <a:r>
              <a:rPr lang="en-US" sz="1200" b="1" dirty="0">
                <a:solidFill>
                  <a:schemeClr val="bg1"/>
                </a:solidFill>
              </a:rPr>
              <a:t>Developer</a:t>
            </a:r>
            <a:endParaRPr lang="en-US" sz="1200" dirty="0"/>
          </a:p>
        </p:txBody>
      </p:sp>
      <p:sp>
        <p:nvSpPr>
          <p:cNvPr id="5" name="Text 3"/>
          <p:cNvSpPr txBox="1"/>
          <p:nvPr/>
        </p:nvSpPr>
        <p:spPr>
          <a:xfrm>
            <a:off x="548640" y="1517904"/>
            <a:ext cx="1280160" cy="438912"/>
          </a:xfrm>
          <a:prstGeom prst="rect">
            <a:avLst/>
          </a:prstGeom>
          <a:noFill/>
          <a:ln/>
        </p:spPr>
        <p:txBody>
          <a:bodyPr wrap="square" lIns="0" tIns="0" rIns="0" bIns="0" rtlCol="0" anchor="ctr"/>
          <a:lstStyle/>
          <a:p>
            <a:pPr indent="0" marL="0">
              <a:buNone/>
            </a:pPr>
            <a:r>
              <a:rPr lang="en-US" sz="950" dirty="0">
                <a:solidFill>
                  <a:schemeClr val="bg1"/>
                </a:solidFill>
              </a:rPr>
              <a:t>git push</a:t>
            </a:r>
            <a:endParaRPr lang="en-US" sz="950" dirty="0"/>
          </a:p>
          <a:p>
            <a:pPr indent="0" marL="0">
              <a:buNone/>
            </a:pPr>
            <a:r>
              <a:rPr lang="en-US" sz="950" dirty="0">
                <a:solidFill>
                  <a:schemeClr val="bg1"/>
                </a:solidFill>
              </a:rPr>
              <a:t>PR review</a:t>
            </a:r>
            <a:endParaRPr lang="en-US" sz="950" dirty="0"/>
          </a:p>
        </p:txBody>
      </p:sp>
      <p:sp>
        <p:nvSpPr>
          <p:cNvPr id="6" name="github"/>
          <p:cNvSpPr/>
          <p:nvPr/>
        </p:nvSpPr>
        <p:spPr>
          <a:xfrm>
            <a:off x="2194560" y="1188720"/>
            <a:ext cx="1645920" cy="822960"/>
          </a:xfrm>
          <a:prstGeom prst="roundRect">
            <a:avLst>
              <a:gd name="adj" fmla="val 8889"/>
            </a:avLst>
          </a:prstGeom>
          <a:solidFill>
            <a:srgbClr val="1C7293"/>
          </a:solidFill>
          <a:ln w="12700">
            <a:solidFill>
              <a:srgbClr val="1C7293"/>
            </a:solidFill>
            <a:prstDash val="solid"/>
          </a:ln>
        </p:spPr>
      </p:sp>
      <p:sp>
        <p:nvSpPr>
          <p:cNvPr id="7" name="Text 5"/>
          <p:cNvSpPr txBox="1"/>
          <p:nvPr/>
        </p:nvSpPr>
        <p:spPr>
          <a:xfrm>
            <a:off x="2286000" y="1243584"/>
            <a:ext cx="1463040" cy="274320"/>
          </a:xfrm>
          <a:prstGeom prst="rect">
            <a:avLst/>
          </a:prstGeom>
          <a:noFill/>
          <a:ln/>
        </p:spPr>
        <p:txBody>
          <a:bodyPr wrap="square" lIns="0" tIns="0" rIns="0" bIns="0" rtlCol="0" anchor="ctr"/>
          <a:lstStyle/>
          <a:p>
            <a:pPr indent="0" marL="0">
              <a:buNone/>
            </a:pPr>
            <a:r>
              <a:rPr lang="en-US" sz="1200" b="1" dirty="0">
                <a:solidFill>
                  <a:schemeClr val="bg1"/>
                </a:solidFill>
              </a:rPr>
              <a:t>GitHub repo</a:t>
            </a:r>
            <a:endParaRPr lang="en-US" sz="1200" dirty="0"/>
          </a:p>
        </p:txBody>
      </p:sp>
      <p:sp>
        <p:nvSpPr>
          <p:cNvPr id="8" name="Text 6"/>
          <p:cNvSpPr txBox="1"/>
          <p:nvPr/>
        </p:nvSpPr>
        <p:spPr>
          <a:xfrm>
            <a:off x="2286000" y="1517904"/>
            <a:ext cx="1463040" cy="438912"/>
          </a:xfrm>
          <a:prstGeom prst="rect">
            <a:avLst/>
          </a:prstGeom>
          <a:noFill/>
          <a:ln/>
        </p:spPr>
        <p:txBody>
          <a:bodyPr wrap="square" lIns="0" tIns="0" rIns="0" bIns="0" rtlCol="0" anchor="ctr"/>
          <a:lstStyle/>
          <a:p>
            <a:pPr indent="0" marL="0">
              <a:buNone/>
            </a:pPr>
            <a:r>
              <a:rPr lang="en-US" sz="950" dirty="0">
                <a:solidFill>
                  <a:schemeClr val="bg1"/>
                </a:solidFill>
              </a:rPr>
              <a:t>source of truth</a:t>
            </a:r>
            <a:endParaRPr lang="en-US" sz="950" dirty="0"/>
          </a:p>
          <a:p>
            <a:pPr indent="0" marL="0">
              <a:buNone/>
            </a:pPr>
            <a:r>
              <a:rPr lang="en-US" sz="950" dirty="0">
                <a:solidFill>
                  <a:schemeClr val="bg1"/>
                </a:solidFill>
              </a:rPr>
              <a:t>workflows, manifests</a:t>
            </a:r>
            <a:endParaRPr lang="en-US" sz="950" dirty="0"/>
          </a:p>
        </p:txBody>
      </p:sp>
      <p:sp>
        <p:nvSpPr>
          <p:cNvPr id="9" name="actions"/>
          <p:cNvSpPr/>
          <p:nvPr/>
        </p:nvSpPr>
        <p:spPr>
          <a:xfrm>
            <a:off x="4114800" y="1097280"/>
            <a:ext cx="2286000" cy="1371600"/>
          </a:xfrm>
          <a:prstGeom prst="roundRect">
            <a:avLst>
              <a:gd name="adj" fmla="val 5333"/>
            </a:avLst>
          </a:prstGeom>
          <a:solidFill>
            <a:srgbClr val="0B1F33"/>
          </a:solidFill>
          <a:ln w="12700">
            <a:solidFill>
              <a:srgbClr val="0B1F33"/>
            </a:solidFill>
            <a:prstDash val="solid"/>
          </a:ln>
        </p:spPr>
      </p:sp>
      <p:sp>
        <p:nvSpPr>
          <p:cNvPr id="10" name="Text 8"/>
          <p:cNvSpPr txBox="1"/>
          <p:nvPr/>
        </p:nvSpPr>
        <p:spPr>
          <a:xfrm>
            <a:off x="4206240" y="1152144"/>
            <a:ext cx="2103120" cy="274320"/>
          </a:xfrm>
          <a:prstGeom prst="rect">
            <a:avLst/>
          </a:prstGeom>
          <a:noFill/>
          <a:ln/>
        </p:spPr>
        <p:txBody>
          <a:bodyPr wrap="square" lIns="0" tIns="0" rIns="0" bIns="0" rtlCol="0" anchor="ctr"/>
          <a:lstStyle/>
          <a:p>
            <a:pPr indent="0" marL="0">
              <a:buNone/>
            </a:pPr>
            <a:r>
              <a:rPr lang="en-US" sz="1200" b="1" dirty="0">
                <a:solidFill>
                  <a:schemeClr val="bg1"/>
                </a:solidFill>
              </a:rPr>
              <a:t>GitHub Actions</a:t>
            </a:r>
            <a:endParaRPr lang="en-US" sz="1200" dirty="0"/>
          </a:p>
        </p:txBody>
      </p:sp>
      <p:sp>
        <p:nvSpPr>
          <p:cNvPr id="11" name="Text 9"/>
          <p:cNvSpPr txBox="1"/>
          <p:nvPr/>
        </p:nvSpPr>
        <p:spPr>
          <a:xfrm>
            <a:off x="4206240" y="1426464"/>
            <a:ext cx="2103120" cy="987552"/>
          </a:xfrm>
          <a:prstGeom prst="rect">
            <a:avLst/>
          </a:prstGeom>
          <a:noFill/>
          <a:ln/>
        </p:spPr>
        <p:txBody>
          <a:bodyPr wrap="square" lIns="0" tIns="0" rIns="0" bIns="0" rtlCol="0" anchor="ctr"/>
          <a:lstStyle/>
          <a:p>
            <a:pPr indent="0" marL="0">
              <a:buNone/>
            </a:pPr>
            <a:r>
              <a:rPr lang="en-US" sz="950" dirty="0">
                <a:solidFill>
                  <a:schemeClr val="bg1"/>
                </a:solidFill>
              </a:rPr>
              <a:t>test &gt; SAST &gt; SCA &gt; secret scan &gt;</a:t>
            </a:r>
            <a:endParaRPr lang="en-US" sz="950" dirty="0"/>
          </a:p>
          <a:p>
            <a:pPr indent="0" marL="0">
              <a:buNone/>
            </a:pPr>
            <a:r>
              <a:rPr lang="en-US" sz="950" dirty="0">
                <a:solidFill>
                  <a:schemeClr val="bg1"/>
                </a:solidFill>
              </a:rPr>
              <a:t>docker build &gt; Trivy &gt; security gate &gt;</a:t>
            </a:r>
            <a:endParaRPr lang="en-US" sz="950" dirty="0"/>
          </a:p>
          <a:p>
            <a:pPr indent="0" marL="0">
              <a:buNone/>
            </a:pPr>
            <a:r>
              <a:rPr lang="en-US" sz="950" dirty="0">
                <a:solidFill>
                  <a:schemeClr val="bg1"/>
                </a:solidFill>
              </a:rPr>
              <a:t>push image &gt; deploy (helm)</a:t>
            </a:r>
            <a:endParaRPr lang="en-US" sz="950" dirty="0"/>
          </a:p>
        </p:txBody>
      </p:sp>
      <p:sp>
        <p:nvSpPr>
          <p:cNvPr id="12" name="ghcr"/>
          <p:cNvSpPr/>
          <p:nvPr/>
        </p:nvSpPr>
        <p:spPr>
          <a:xfrm>
            <a:off x="6675120" y="1188720"/>
            <a:ext cx="2011680" cy="822960"/>
          </a:xfrm>
          <a:prstGeom prst="roundRect">
            <a:avLst>
              <a:gd name="adj" fmla="val 8889"/>
            </a:avLst>
          </a:prstGeom>
          <a:solidFill>
            <a:srgbClr val="1C7293"/>
          </a:solidFill>
          <a:ln w="12700">
            <a:solidFill>
              <a:srgbClr val="1C7293"/>
            </a:solidFill>
            <a:prstDash val="solid"/>
          </a:ln>
        </p:spPr>
      </p:sp>
      <p:sp>
        <p:nvSpPr>
          <p:cNvPr id="13" name="Text 11"/>
          <p:cNvSpPr txBox="1"/>
          <p:nvPr/>
        </p:nvSpPr>
        <p:spPr>
          <a:xfrm>
            <a:off x="6766560" y="1243584"/>
            <a:ext cx="1828800" cy="274320"/>
          </a:xfrm>
          <a:prstGeom prst="rect">
            <a:avLst/>
          </a:prstGeom>
          <a:noFill/>
          <a:ln/>
        </p:spPr>
        <p:txBody>
          <a:bodyPr wrap="square" lIns="0" tIns="0" rIns="0" bIns="0" rtlCol="0" anchor="ctr"/>
          <a:lstStyle/>
          <a:p>
            <a:pPr indent="0" marL="0">
              <a:buNone/>
            </a:pPr>
            <a:r>
              <a:rPr lang="en-US" sz="1200" b="1" dirty="0">
                <a:solidFill>
                  <a:schemeClr val="bg1"/>
                </a:solidFill>
              </a:rPr>
              <a:t>GHCR</a:t>
            </a:r>
            <a:endParaRPr lang="en-US" sz="1200" dirty="0"/>
          </a:p>
        </p:txBody>
      </p:sp>
      <p:sp>
        <p:nvSpPr>
          <p:cNvPr id="14" name="Text 12"/>
          <p:cNvSpPr txBox="1"/>
          <p:nvPr/>
        </p:nvSpPr>
        <p:spPr>
          <a:xfrm>
            <a:off x="6766560" y="1517904"/>
            <a:ext cx="1828800" cy="438912"/>
          </a:xfrm>
          <a:prstGeom prst="rect">
            <a:avLst/>
          </a:prstGeom>
          <a:noFill/>
          <a:ln/>
        </p:spPr>
        <p:txBody>
          <a:bodyPr wrap="square" lIns="0" tIns="0" rIns="0" bIns="0" rtlCol="0" anchor="ctr"/>
          <a:lstStyle/>
          <a:p>
            <a:pPr indent="0" marL="0">
              <a:buNone/>
            </a:pPr>
            <a:r>
              <a:rPr lang="en-US" sz="950" dirty="0">
                <a:solidFill>
                  <a:schemeClr val="bg1"/>
                </a:solidFill>
              </a:rPr>
              <a:t>ghcr.io/vivek-0509/</a:t>
            </a:r>
            <a:endParaRPr lang="en-US" sz="950" dirty="0"/>
          </a:p>
          <a:p>
            <a:pPr indent="0" marL="0">
              <a:buNone/>
            </a:pPr>
            <a:r>
              <a:rPr lang="en-US" sz="950" dirty="0">
                <a:solidFill>
                  <a:schemeClr val="bg1"/>
                </a:solidFill>
              </a:rPr>
              <a:t>taskboard-lite:&lt;sha&gt;</a:t>
            </a:r>
            <a:endParaRPr lang="en-US" sz="950" dirty="0"/>
          </a:p>
        </p:txBody>
      </p:sp>
      <p:sp>
        <p:nvSpPr>
          <p:cNvPr id="15" name="argocd"/>
          <p:cNvSpPr/>
          <p:nvPr/>
        </p:nvSpPr>
        <p:spPr>
          <a:xfrm>
            <a:off x="2194560" y="2377440"/>
            <a:ext cx="1645920" cy="822960"/>
          </a:xfrm>
          <a:prstGeom prst="roundRect">
            <a:avLst>
              <a:gd name="adj" fmla="val 8889"/>
            </a:avLst>
          </a:prstGeom>
          <a:solidFill>
            <a:srgbClr val="065A82"/>
          </a:solidFill>
          <a:ln w="12700">
            <a:solidFill>
              <a:srgbClr val="065A82"/>
            </a:solidFill>
            <a:prstDash val="solid"/>
          </a:ln>
        </p:spPr>
      </p:sp>
      <p:sp>
        <p:nvSpPr>
          <p:cNvPr id="16" name="Text 14"/>
          <p:cNvSpPr txBox="1"/>
          <p:nvPr/>
        </p:nvSpPr>
        <p:spPr>
          <a:xfrm>
            <a:off x="2286000" y="2432304"/>
            <a:ext cx="1463040" cy="274320"/>
          </a:xfrm>
          <a:prstGeom prst="rect">
            <a:avLst/>
          </a:prstGeom>
          <a:noFill/>
          <a:ln/>
        </p:spPr>
        <p:txBody>
          <a:bodyPr wrap="square" lIns="0" tIns="0" rIns="0" bIns="0" rtlCol="0" anchor="ctr"/>
          <a:lstStyle/>
          <a:p>
            <a:pPr indent="0" marL="0">
              <a:buNone/>
            </a:pPr>
            <a:r>
              <a:rPr lang="en-US" sz="1200" b="1" dirty="0">
                <a:solidFill>
                  <a:schemeClr val="bg1"/>
                </a:solidFill>
              </a:rPr>
              <a:t>Argo CD</a:t>
            </a:r>
            <a:endParaRPr lang="en-US" sz="1200" dirty="0"/>
          </a:p>
        </p:txBody>
      </p:sp>
      <p:sp>
        <p:nvSpPr>
          <p:cNvPr id="17" name="Text 15"/>
          <p:cNvSpPr txBox="1"/>
          <p:nvPr/>
        </p:nvSpPr>
        <p:spPr>
          <a:xfrm>
            <a:off x="2286000" y="2706624"/>
            <a:ext cx="1463040" cy="438912"/>
          </a:xfrm>
          <a:prstGeom prst="rect">
            <a:avLst/>
          </a:prstGeom>
          <a:noFill/>
          <a:ln/>
        </p:spPr>
        <p:txBody>
          <a:bodyPr wrap="square" lIns="0" tIns="0" rIns="0" bIns="0" rtlCol="0" anchor="ctr"/>
          <a:lstStyle/>
          <a:p>
            <a:pPr indent="0" marL="0">
              <a:buNone/>
            </a:pPr>
            <a:r>
              <a:rPr lang="en-US" sz="950" dirty="0">
                <a:solidFill>
                  <a:schemeClr val="bg1"/>
                </a:solidFill>
              </a:rPr>
              <a:t>watches gitops/manifests</a:t>
            </a:r>
            <a:endParaRPr lang="en-US" sz="950" dirty="0"/>
          </a:p>
          <a:p>
            <a:pPr indent="0" marL="0">
              <a:buNone/>
            </a:pPr>
            <a:r>
              <a:rPr lang="en-US" sz="950" dirty="0">
                <a:solidFill>
                  <a:schemeClr val="bg1"/>
                </a:solidFill>
              </a:rPr>
              <a:t>sync + self-heal</a:t>
            </a:r>
            <a:endParaRPr lang="en-US" sz="950" dirty="0"/>
          </a:p>
        </p:txBody>
      </p:sp>
      <p:sp>
        <p:nvSpPr>
          <p:cNvPr id="18" name="cluster"/>
          <p:cNvSpPr/>
          <p:nvPr/>
        </p:nvSpPr>
        <p:spPr>
          <a:xfrm>
            <a:off x="4114800" y="2743200"/>
            <a:ext cx="4572000" cy="1828800"/>
          </a:xfrm>
          <a:prstGeom prst="roundRect">
            <a:avLst>
              <a:gd name="adj" fmla="val 4000"/>
            </a:avLst>
          </a:prstGeom>
          <a:solidFill>
            <a:schemeClr val="bg2"/>
          </a:solidFill>
          <a:ln w="12700">
            <a:solidFill>
              <a:schemeClr val="accent3"/>
            </a:solidFill>
            <a:prstDash val="solid"/>
          </a:ln>
        </p:spPr>
      </p:sp>
      <p:sp>
        <p:nvSpPr>
          <p:cNvPr id="19" name="Text 17"/>
          <p:cNvSpPr txBox="1"/>
          <p:nvPr/>
        </p:nvSpPr>
        <p:spPr>
          <a:xfrm>
            <a:off x="4251960" y="2807208"/>
            <a:ext cx="4297680" cy="274320"/>
          </a:xfrm>
          <a:prstGeom prst="rect">
            <a:avLst/>
          </a:prstGeom>
          <a:noFill/>
          <a:ln/>
        </p:spPr>
        <p:txBody>
          <a:bodyPr wrap="square" lIns="0" tIns="0" rIns="0" bIns="0" rtlCol="0" anchor="ctr"/>
          <a:lstStyle/>
          <a:p>
            <a:pPr indent="0" marL="0">
              <a:buNone/>
            </a:pPr>
            <a:r>
              <a:rPr lang="en-US" sz="1200" b="1" dirty="0">
                <a:solidFill>
                  <a:schemeClr val="tx1"/>
                </a:solidFill>
              </a:rPr>
              <a:t>Kubernetes (namespace taskboard)</a:t>
            </a:r>
            <a:endParaRPr lang="en-US" sz="1200" dirty="0"/>
          </a:p>
        </p:txBody>
      </p:sp>
      <p:sp>
        <p:nvSpPr>
          <p:cNvPr id="20" name="k8s Ingress"/>
          <p:cNvSpPr/>
          <p:nvPr/>
        </p:nvSpPr>
        <p:spPr>
          <a:xfrm>
            <a:off x="4251960" y="3154680"/>
            <a:ext cx="1371600" cy="594360"/>
          </a:xfrm>
          <a:prstGeom prst="roundRect">
            <a:avLst>
              <a:gd name="adj" fmla="val 9231"/>
            </a:avLst>
          </a:prstGeom>
          <a:solidFill>
            <a:schemeClr val="bg1"/>
          </a:solidFill>
          <a:ln w="9525">
            <a:solidFill>
              <a:schemeClr val="accent6"/>
            </a:solidFill>
            <a:prstDash val="solid"/>
          </a:ln>
        </p:spPr>
      </p:sp>
      <p:sp>
        <p:nvSpPr>
          <p:cNvPr id="21" name="Text 19"/>
          <p:cNvSpPr txBox="1"/>
          <p:nvPr/>
        </p:nvSpPr>
        <p:spPr>
          <a:xfrm>
            <a:off x="4325112" y="32095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Ingress</a:t>
            </a:r>
            <a:endParaRPr lang="en-US" sz="1050" dirty="0"/>
          </a:p>
        </p:txBody>
      </p:sp>
      <p:sp>
        <p:nvSpPr>
          <p:cNvPr id="22" name="Text 20"/>
          <p:cNvSpPr txBox="1"/>
          <p:nvPr/>
        </p:nvSpPr>
        <p:spPr>
          <a:xfrm>
            <a:off x="4325112" y="3456432"/>
            <a:ext cx="1234440" cy="256032"/>
          </a:xfrm>
          <a:prstGeom prst="rect">
            <a:avLst/>
          </a:prstGeom>
          <a:noFill/>
          <a:ln/>
        </p:spPr>
        <p:txBody>
          <a:bodyPr wrap="square" lIns="0" tIns="0" rIns="0" bIns="0" rtlCol="0" anchor="ctr"/>
          <a:lstStyle/>
          <a:p>
            <a:pPr indent="0" marL="0">
              <a:buNone/>
            </a:pPr>
            <a:r>
              <a:rPr lang="en-US" sz="900" dirty="0">
                <a:solidFill>
                  <a:schemeClr val="tx2"/>
                </a:solidFill>
              </a:rPr>
              <a:t>nginx, taskboard.local</a:t>
            </a:r>
            <a:endParaRPr lang="en-US" sz="900" dirty="0"/>
          </a:p>
        </p:txBody>
      </p:sp>
      <p:sp>
        <p:nvSpPr>
          <p:cNvPr id="23" name="k8s Service"/>
          <p:cNvSpPr/>
          <p:nvPr/>
        </p:nvSpPr>
        <p:spPr>
          <a:xfrm>
            <a:off x="5715000" y="3154680"/>
            <a:ext cx="1371600" cy="594360"/>
          </a:xfrm>
          <a:prstGeom prst="roundRect">
            <a:avLst>
              <a:gd name="adj" fmla="val 9231"/>
            </a:avLst>
          </a:prstGeom>
          <a:solidFill>
            <a:schemeClr val="bg1"/>
          </a:solidFill>
          <a:ln w="9525">
            <a:solidFill>
              <a:schemeClr val="accent6"/>
            </a:solidFill>
            <a:prstDash val="solid"/>
          </a:ln>
        </p:spPr>
      </p:sp>
      <p:sp>
        <p:nvSpPr>
          <p:cNvPr id="24" name="Text 22"/>
          <p:cNvSpPr txBox="1"/>
          <p:nvPr/>
        </p:nvSpPr>
        <p:spPr>
          <a:xfrm>
            <a:off x="5788152" y="32095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Service</a:t>
            </a:r>
            <a:endParaRPr lang="en-US" sz="1050" dirty="0"/>
          </a:p>
        </p:txBody>
      </p:sp>
      <p:sp>
        <p:nvSpPr>
          <p:cNvPr id="25" name="Text 23"/>
          <p:cNvSpPr txBox="1"/>
          <p:nvPr/>
        </p:nvSpPr>
        <p:spPr>
          <a:xfrm>
            <a:off x="5788152" y="3456432"/>
            <a:ext cx="1234440" cy="256032"/>
          </a:xfrm>
          <a:prstGeom prst="rect">
            <a:avLst/>
          </a:prstGeom>
          <a:noFill/>
          <a:ln/>
        </p:spPr>
        <p:txBody>
          <a:bodyPr wrap="square" lIns="0" tIns="0" rIns="0" bIns="0" rtlCol="0" anchor="ctr"/>
          <a:lstStyle/>
          <a:p>
            <a:pPr indent="0" marL="0">
              <a:buNone/>
            </a:pPr>
            <a:r>
              <a:rPr lang="en-US" sz="900" dirty="0">
                <a:solidFill>
                  <a:schemeClr val="tx2"/>
                </a:solidFill>
              </a:rPr>
              <a:t>ClusterIP :80</a:t>
            </a:r>
            <a:endParaRPr lang="en-US" sz="900" dirty="0"/>
          </a:p>
        </p:txBody>
      </p:sp>
      <p:sp>
        <p:nvSpPr>
          <p:cNvPr id="26" name="k8s Deployment"/>
          <p:cNvSpPr/>
          <p:nvPr/>
        </p:nvSpPr>
        <p:spPr>
          <a:xfrm>
            <a:off x="7178040" y="3154680"/>
            <a:ext cx="1371600" cy="594360"/>
          </a:xfrm>
          <a:prstGeom prst="roundRect">
            <a:avLst>
              <a:gd name="adj" fmla="val 9231"/>
            </a:avLst>
          </a:prstGeom>
          <a:solidFill>
            <a:schemeClr val="bg1"/>
          </a:solidFill>
          <a:ln w="9525">
            <a:solidFill>
              <a:schemeClr val="accent6"/>
            </a:solidFill>
            <a:prstDash val="solid"/>
          </a:ln>
        </p:spPr>
      </p:sp>
      <p:sp>
        <p:nvSpPr>
          <p:cNvPr id="27" name="Text 25"/>
          <p:cNvSpPr txBox="1"/>
          <p:nvPr/>
        </p:nvSpPr>
        <p:spPr>
          <a:xfrm>
            <a:off x="7251192" y="32095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Deployment</a:t>
            </a:r>
            <a:endParaRPr lang="en-US" sz="1050" dirty="0"/>
          </a:p>
        </p:txBody>
      </p:sp>
      <p:sp>
        <p:nvSpPr>
          <p:cNvPr id="28" name="Text 26"/>
          <p:cNvSpPr txBox="1"/>
          <p:nvPr/>
        </p:nvSpPr>
        <p:spPr>
          <a:xfrm>
            <a:off x="7251192" y="3456432"/>
            <a:ext cx="1234440" cy="256032"/>
          </a:xfrm>
          <a:prstGeom prst="rect">
            <a:avLst/>
          </a:prstGeom>
          <a:noFill/>
          <a:ln/>
        </p:spPr>
        <p:txBody>
          <a:bodyPr wrap="square" lIns="0" tIns="0" rIns="0" bIns="0" rtlCol="0" anchor="ctr"/>
          <a:lstStyle/>
          <a:p>
            <a:pPr indent="0" marL="0">
              <a:buNone/>
            </a:pPr>
            <a:r>
              <a:rPr lang="en-US" sz="900" dirty="0">
                <a:solidFill>
                  <a:schemeClr val="tx2"/>
                </a:solidFill>
              </a:rPr>
              <a:t>2-5 pods, probes</a:t>
            </a:r>
            <a:endParaRPr lang="en-US" sz="900" dirty="0"/>
          </a:p>
        </p:txBody>
      </p:sp>
      <p:sp>
        <p:nvSpPr>
          <p:cNvPr id="29" name="k8s HPA"/>
          <p:cNvSpPr/>
          <p:nvPr/>
        </p:nvSpPr>
        <p:spPr>
          <a:xfrm>
            <a:off x="4251960" y="3840480"/>
            <a:ext cx="1371600" cy="594360"/>
          </a:xfrm>
          <a:prstGeom prst="roundRect">
            <a:avLst>
              <a:gd name="adj" fmla="val 9231"/>
            </a:avLst>
          </a:prstGeom>
          <a:solidFill>
            <a:schemeClr val="bg1"/>
          </a:solidFill>
          <a:ln w="9525">
            <a:solidFill>
              <a:schemeClr val="accent6"/>
            </a:solidFill>
            <a:prstDash val="solid"/>
          </a:ln>
        </p:spPr>
      </p:sp>
      <p:sp>
        <p:nvSpPr>
          <p:cNvPr id="30" name="Text 28"/>
          <p:cNvSpPr txBox="1"/>
          <p:nvPr/>
        </p:nvSpPr>
        <p:spPr>
          <a:xfrm>
            <a:off x="4325112" y="38953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HPA</a:t>
            </a:r>
            <a:endParaRPr lang="en-US" sz="1050" dirty="0"/>
          </a:p>
        </p:txBody>
      </p:sp>
      <p:sp>
        <p:nvSpPr>
          <p:cNvPr id="31" name="Text 29"/>
          <p:cNvSpPr txBox="1"/>
          <p:nvPr/>
        </p:nvSpPr>
        <p:spPr>
          <a:xfrm>
            <a:off x="4325112" y="4142232"/>
            <a:ext cx="1234440" cy="256032"/>
          </a:xfrm>
          <a:prstGeom prst="rect">
            <a:avLst/>
          </a:prstGeom>
          <a:noFill/>
          <a:ln/>
        </p:spPr>
        <p:txBody>
          <a:bodyPr wrap="square" lIns="0" tIns="0" rIns="0" bIns="0" rtlCol="0" anchor="ctr"/>
          <a:lstStyle/>
          <a:p>
            <a:pPr indent="0" marL="0">
              <a:buNone/>
            </a:pPr>
            <a:r>
              <a:rPr lang="en-US" sz="900" dirty="0">
                <a:solidFill>
                  <a:schemeClr val="tx2"/>
                </a:solidFill>
              </a:rPr>
              <a:t>60% CPU target</a:t>
            </a:r>
            <a:endParaRPr lang="en-US" sz="900" dirty="0"/>
          </a:p>
        </p:txBody>
      </p:sp>
      <p:sp>
        <p:nvSpPr>
          <p:cNvPr id="32" name="k8s ConfigMap + Secret"/>
          <p:cNvSpPr/>
          <p:nvPr/>
        </p:nvSpPr>
        <p:spPr>
          <a:xfrm>
            <a:off x="5715000" y="3840480"/>
            <a:ext cx="1371600" cy="594360"/>
          </a:xfrm>
          <a:prstGeom prst="roundRect">
            <a:avLst>
              <a:gd name="adj" fmla="val 9231"/>
            </a:avLst>
          </a:prstGeom>
          <a:solidFill>
            <a:schemeClr val="bg1"/>
          </a:solidFill>
          <a:ln w="9525">
            <a:solidFill>
              <a:schemeClr val="accent6"/>
            </a:solidFill>
            <a:prstDash val="solid"/>
          </a:ln>
        </p:spPr>
      </p:sp>
      <p:sp>
        <p:nvSpPr>
          <p:cNvPr id="33" name="Text 31"/>
          <p:cNvSpPr txBox="1"/>
          <p:nvPr/>
        </p:nvSpPr>
        <p:spPr>
          <a:xfrm>
            <a:off x="5788152" y="38953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ConfigMap + Secret</a:t>
            </a:r>
            <a:endParaRPr lang="en-US" sz="1050" dirty="0"/>
          </a:p>
        </p:txBody>
      </p:sp>
      <p:sp>
        <p:nvSpPr>
          <p:cNvPr id="34" name="Text 32"/>
          <p:cNvSpPr txBox="1"/>
          <p:nvPr/>
        </p:nvSpPr>
        <p:spPr>
          <a:xfrm>
            <a:off x="5788152" y="4142232"/>
            <a:ext cx="1234440" cy="256032"/>
          </a:xfrm>
          <a:prstGeom prst="rect">
            <a:avLst/>
          </a:prstGeom>
          <a:noFill/>
          <a:ln/>
        </p:spPr>
        <p:txBody>
          <a:bodyPr wrap="square" lIns="0" tIns="0" rIns="0" bIns="0" rtlCol="0" anchor="ctr"/>
          <a:lstStyle/>
          <a:p>
            <a:pPr indent="0" marL="0">
              <a:buNone/>
            </a:pPr>
            <a:r>
              <a:rPr lang="en-US" sz="900" dirty="0">
                <a:solidFill>
                  <a:schemeClr val="tx2"/>
                </a:solidFill>
              </a:rPr>
              <a:t>env injection</a:t>
            </a:r>
            <a:endParaRPr lang="en-US" sz="900" dirty="0"/>
          </a:p>
        </p:txBody>
      </p:sp>
      <p:sp>
        <p:nvSpPr>
          <p:cNvPr id="35" name="k8s PVC 1Gi"/>
          <p:cNvSpPr/>
          <p:nvPr/>
        </p:nvSpPr>
        <p:spPr>
          <a:xfrm>
            <a:off x="7178040" y="3840480"/>
            <a:ext cx="1371600" cy="594360"/>
          </a:xfrm>
          <a:prstGeom prst="roundRect">
            <a:avLst>
              <a:gd name="adj" fmla="val 9231"/>
            </a:avLst>
          </a:prstGeom>
          <a:solidFill>
            <a:schemeClr val="bg1"/>
          </a:solidFill>
          <a:ln w="9525">
            <a:solidFill>
              <a:schemeClr val="accent6"/>
            </a:solidFill>
            <a:prstDash val="solid"/>
          </a:ln>
        </p:spPr>
      </p:sp>
      <p:sp>
        <p:nvSpPr>
          <p:cNvPr id="36" name="Text 34"/>
          <p:cNvSpPr txBox="1"/>
          <p:nvPr/>
        </p:nvSpPr>
        <p:spPr>
          <a:xfrm>
            <a:off x="7251192" y="3895344"/>
            <a:ext cx="1234440" cy="256032"/>
          </a:xfrm>
          <a:prstGeom prst="rect">
            <a:avLst/>
          </a:prstGeom>
          <a:noFill/>
          <a:ln/>
        </p:spPr>
        <p:txBody>
          <a:bodyPr wrap="square" lIns="0" tIns="0" rIns="0" bIns="0" rtlCol="0" anchor="ctr"/>
          <a:lstStyle/>
          <a:p>
            <a:pPr indent="0" marL="0">
              <a:buNone/>
            </a:pPr>
            <a:r>
              <a:rPr lang="en-US" sz="1050" b="1" dirty="0">
                <a:solidFill>
                  <a:schemeClr val="tx1"/>
                </a:solidFill>
              </a:rPr>
              <a:t>PVC 1Gi</a:t>
            </a:r>
            <a:endParaRPr lang="en-US" sz="1050" dirty="0"/>
          </a:p>
        </p:txBody>
      </p:sp>
      <p:sp>
        <p:nvSpPr>
          <p:cNvPr id="37" name="Text 35"/>
          <p:cNvSpPr txBox="1"/>
          <p:nvPr/>
        </p:nvSpPr>
        <p:spPr>
          <a:xfrm>
            <a:off x="7251192" y="4142232"/>
            <a:ext cx="1234440" cy="256032"/>
          </a:xfrm>
          <a:prstGeom prst="rect">
            <a:avLst/>
          </a:prstGeom>
          <a:noFill/>
          <a:ln/>
        </p:spPr>
        <p:txBody>
          <a:bodyPr wrap="square" lIns="0" tIns="0" rIns="0" bIns="0" rtlCol="0" anchor="ctr"/>
          <a:lstStyle/>
          <a:p>
            <a:pPr indent="0" marL="0">
              <a:buNone/>
            </a:pPr>
            <a:r>
              <a:rPr lang="en-US" sz="900" dirty="0">
                <a:solidFill>
                  <a:schemeClr val="tx2"/>
                </a:solidFill>
              </a:rPr>
              <a:t>/app/data</a:t>
            </a:r>
            <a:endParaRPr lang="en-US" sz="900" dirty="0"/>
          </a:p>
        </p:txBody>
      </p:sp>
      <p:sp>
        <p:nvSpPr>
          <p:cNvPr id="38" name="prometheus"/>
          <p:cNvSpPr/>
          <p:nvPr/>
        </p:nvSpPr>
        <p:spPr>
          <a:xfrm>
            <a:off x="457200" y="2743200"/>
            <a:ext cx="1463040" cy="822960"/>
          </a:xfrm>
          <a:prstGeom prst="roundRect">
            <a:avLst>
              <a:gd name="adj" fmla="val 8889"/>
            </a:avLst>
          </a:prstGeom>
          <a:solidFill>
            <a:srgbClr val="02C39A"/>
          </a:solidFill>
          <a:ln w="12700">
            <a:solidFill>
              <a:srgbClr val="02C39A"/>
            </a:solidFill>
            <a:prstDash val="solid"/>
          </a:ln>
        </p:spPr>
      </p:sp>
      <p:sp>
        <p:nvSpPr>
          <p:cNvPr id="39" name="Text 37"/>
          <p:cNvSpPr txBox="1"/>
          <p:nvPr/>
        </p:nvSpPr>
        <p:spPr>
          <a:xfrm>
            <a:off x="548640" y="2798064"/>
            <a:ext cx="1280160" cy="274320"/>
          </a:xfrm>
          <a:prstGeom prst="rect">
            <a:avLst/>
          </a:prstGeom>
          <a:noFill/>
          <a:ln/>
        </p:spPr>
        <p:txBody>
          <a:bodyPr wrap="square" lIns="0" tIns="0" rIns="0" bIns="0" rtlCol="0" anchor="ctr"/>
          <a:lstStyle/>
          <a:p>
            <a:pPr indent="0" marL="0">
              <a:buNone/>
            </a:pPr>
            <a:r>
              <a:rPr lang="en-US" sz="1200" b="1" dirty="0">
                <a:solidFill>
                  <a:schemeClr val="bg1"/>
                </a:solidFill>
              </a:rPr>
              <a:t>Prometheus</a:t>
            </a:r>
            <a:endParaRPr lang="en-US" sz="1200" dirty="0"/>
          </a:p>
        </p:txBody>
      </p:sp>
      <p:sp>
        <p:nvSpPr>
          <p:cNvPr id="40" name="Text 38"/>
          <p:cNvSpPr txBox="1"/>
          <p:nvPr/>
        </p:nvSpPr>
        <p:spPr>
          <a:xfrm>
            <a:off x="548640" y="3072384"/>
            <a:ext cx="1280160" cy="438912"/>
          </a:xfrm>
          <a:prstGeom prst="rect">
            <a:avLst/>
          </a:prstGeom>
          <a:noFill/>
          <a:ln/>
        </p:spPr>
        <p:txBody>
          <a:bodyPr wrap="square" lIns="0" tIns="0" rIns="0" bIns="0" rtlCol="0" anchor="ctr"/>
          <a:lstStyle/>
          <a:p>
            <a:pPr indent="0" marL="0">
              <a:buNone/>
            </a:pPr>
            <a:r>
              <a:rPr lang="en-US" sz="950" dirty="0">
                <a:solidFill>
                  <a:schemeClr val="bg1"/>
                </a:solidFill>
              </a:rPr>
              <a:t>scrapes /metrics</a:t>
            </a:r>
            <a:endParaRPr lang="en-US" sz="950" dirty="0"/>
          </a:p>
          <a:p>
            <a:pPr indent="0" marL="0">
              <a:buNone/>
            </a:pPr>
            <a:r>
              <a:rPr lang="en-US" sz="950" dirty="0">
                <a:solidFill>
                  <a:schemeClr val="bg1"/>
                </a:solidFill>
              </a:rPr>
              <a:t>alert rules</a:t>
            </a:r>
            <a:endParaRPr lang="en-US" sz="950" dirty="0"/>
          </a:p>
        </p:txBody>
      </p:sp>
      <p:sp>
        <p:nvSpPr>
          <p:cNvPr id="41" name="grafana"/>
          <p:cNvSpPr/>
          <p:nvPr/>
        </p:nvSpPr>
        <p:spPr>
          <a:xfrm>
            <a:off x="457200" y="3749040"/>
            <a:ext cx="1463040" cy="822960"/>
          </a:xfrm>
          <a:prstGeom prst="roundRect">
            <a:avLst>
              <a:gd name="adj" fmla="val 8889"/>
            </a:avLst>
          </a:prstGeom>
          <a:solidFill>
            <a:srgbClr val="02C39A"/>
          </a:solidFill>
          <a:ln w="12700">
            <a:solidFill>
              <a:srgbClr val="02C39A"/>
            </a:solidFill>
            <a:prstDash val="solid"/>
          </a:ln>
        </p:spPr>
      </p:sp>
      <p:sp>
        <p:nvSpPr>
          <p:cNvPr id="42" name="Text 40"/>
          <p:cNvSpPr txBox="1"/>
          <p:nvPr/>
        </p:nvSpPr>
        <p:spPr>
          <a:xfrm>
            <a:off x="548640" y="3803904"/>
            <a:ext cx="1280160" cy="274320"/>
          </a:xfrm>
          <a:prstGeom prst="rect">
            <a:avLst/>
          </a:prstGeom>
          <a:noFill/>
          <a:ln/>
        </p:spPr>
        <p:txBody>
          <a:bodyPr wrap="square" lIns="0" tIns="0" rIns="0" bIns="0" rtlCol="0" anchor="ctr"/>
          <a:lstStyle/>
          <a:p>
            <a:pPr indent="0" marL="0">
              <a:buNone/>
            </a:pPr>
            <a:r>
              <a:rPr lang="en-US" sz="1200" b="1" dirty="0">
                <a:solidFill>
                  <a:schemeClr val="bg1"/>
                </a:solidFill>
              </a:rPr>
              <a:t>Grafana</a:t>
            </a:r>
            <a:endParaRPr lang="en-US" sz="1200" dirty="0"/>
          </a:p>
        </p:txBody>
      </p:sp>
      <p:sp>
        <p:nvSpPr>
          <p:cNvPr id="43" name="Text 41"/>
          <p:cNvSpPr txBox="1"/>
          <p:nvPr/>
        </p:nvSpPr>
        <p:spPr>
          <a:xfrm>
            <a:off x="548640" y="4078224"/>
            <a:ext cx="1280160" cy="438912"/>
          </a:xfrm>
          <a:prstGeom prst="rect">
            <a:avLst/>
          </a:prstGeom>
          <a:noFill/>
          <a:ln/>
        </p:spPr>
        <p:txBody>
          <a:bodyPr wrap="square" lIns="0" tIns="0" rIns="0" bIns="0" rtlCol="0" anchor="ctr"/>
          <a:lstStyle/>
          <a:p>
            <a:pPr indent="0" marL="0">
              <a:buNone/>
            </a:pPr>
            <a:r>
              <a:rPr lang="en-US" sz="950" dirty="0">
                <a:solidFill>
                  <a:schemeClr val="bg1"/>
                </a:solidFill>
              </a:rPr>
              <a:t>dashboard</a:t>
            </a:r>
            <a:endParaRPr lang="en-US" sz="950" dirty="0"/>
          </a:p>
          <a:p>
            <a:pPr indent="0" marL="0">
              <a:buNone/>
            </a:pPr>
            <a:r>
              <a:rPr lang="en-US" sz="950" dirty="0">
                <a:solidFill>
                  <a:schemeClr val="bg1"/>
                </a:solidFill>
              </a:rPr>
              <a:t>requests, tasks, up</a:t>
            </a:r>
            <a:endParaRPr lang="en-US" sz="950" dirty="0"/>
          </a:p>
        </p:txBody>
      </p:sp>
      <p:sp>
        <p:nvSpPr>
          <p:cNvPr id="44" name="terraform"/>
          <p:cNvSpPr/>
          <p:nvPr/>
        </p:nvSpPr>
        <p:spPr>
          <a:xfrm>
            <a:off x="2194560" y="3749040"/>
            <a:ext cx="1645920" cy="822960"/>
          </a:xfrm>
          <a:prstGeom prst="roundRect">
            <a:avLst>
              <a:gd name="adj" fmla="val 8889"/>
            </a:avLst>
          </a:prstGeom>
          <a:solidFill>
            <a:srgbClr val="F6AE2D"/>
          </a:solidFill>
          <a:ln w="12700">
            <a:solidFill>
              <a:srgbClr val="F6AE2D"/>
            </a:solidFill>
            <a:prstDash val="solid"/>
          </a:ln>
        </p:spPr>
      </p:sp>
      <p:sp>
        <p:nvSpPr>
          <p:cNvPr id="45" name="Text 43"/>
          <p:cNvSpPr txBox="1"/>
          <p:nvPr/>
        </p:nvSpPr>
        <p:spPr>
          <a:xfrm>
            <a:off x="2286000" y="3803904"/>
            <a:ext cx="1463040" cy="274320"/>
          </a:xfrm>
          <a:prstGeom prst="rect">
            <a:avLst/>
          </a:prstGeom>
          <a:noFill/>
          <a:ln/>
        </p:spPr>
        <p:txBody>
          <a:bodyPr wrap="square" lIns="0" tIns="0" rIns="0" bIns="0" rtlCol="0" anchor="ctr"/>
          <a:lstStyle/>
          <a:p>
            <a:pPr indent="0" marL="0">
              <a:buNone/>
            </a:pPr>
            <a:r>
              <a:rPr lang="en-US" sz="1200" b="1" dirty="0">
                <a:solidFill>
                  <a:schemeClr val="bg1"/>
                </a:solidFill>
              </a:rPr>
              <a:t>Terraform -&gt; AWS</a:t>
            </a:r>
            <a:endParaRPr lang="en-US" sz="1200" dirty="0"/>
          </a:p>
        </p:txBody>
      </p:sp>
      <p:sp>
        <p:nvSpPr>
          <p:cNvPr id="46" name="Text 44"/>
          <p:cNvSpPr txBox="1"/>
          <p:nvPr/>
        </p:nvSpPr>
        <p:spPr>
          <a:xfrm>
            <a:off x="2286000" y="4078224"/>
            <a:ext cx="1463040" cy="438912"/>
          </a:xfrm>
          <a:prstGeom prst="rect">
            <a:avLst/>
          </a:prstGeom>
          <a:noFill/>
          <a:ln/>
        </p:spPr>
        <p:txBody>
          <a:bodyPr wrap="square" lIns="0" tIns="0" rIns="0" bIns="0" rtlCol="0" anchor="ctr"/>
          <a:lstStyle/>
          <a:p>
            <a:pPr indent="0" marL="0">
              <a:buNone/>
            </a:pPr>
            <a:r>
              <a:rPr lang="en-US" sz="950" dirty="0">
                <a:solidFill>
                  <a:schemeClr val="bg1"/>
                </a:solidFill>
              </a:rPr>
              <a:t>VPC, subnet, IGW, SG,</a:t>
            </a:r>
            <a:endParaRPr lang="en-US" sz="950" dirty="0"/>
          </a:p>
          <a:p>
            <a:pPr indent="0" marL="0">
              <a:buNone/>
            </a:pPr>
            <a:r>
              <a:rPr lang="en-US" sz="950" dirty="0">
                <a:solidFill>
                  <a:schemeClr val="bg1"/>
                </a:solidFill>
              </a:rPr>
              <a:t>EC2, S3</a:t>
            </a:r>
            <a:endParaRPr lang="en-US" sz="950" dirty="0"/>
          </a:p>
        </p:txBody>
      </p:sp>
      <p:sp>
        <p:nvSpPr>
          <p:cNvPr id="47" name="a1"/>
          <p:cNvSpPr/>
          <p:nvPr/>
        </p:nvSpPr>
        <p:spPr>
          <a:xfrm>
            <a:off x="1920240" y="1600200"/>
            <a:ext cx="274320" cy="0"/>
          </a:xfrm>
          <a:prstGeom prst="line">
            <a:avLst/>
          </a:prstGeom>
          <a:noFill/>
          <a:ln w="19050">
            <a:solidFill>
              <a:srgbClr val="065A82"/>
            </a:solidFill>
            <a:prstDash val="solid"/>
            <a:tailEnd type="triangle"/>
          </a:ln>
        </p:spPr>
      </p:sp>
      <p:sp>
        <p:nvSpPr>
          <p:cNvPr id="48" name="a2"/>
          <p:cNvSpPr/>
          <p:nvPr/>
        </p:nvSpPr>
        <p:spPr>
          <a:xfrm>
            <a:off x="3840480" y="1600200"/>
            <a:ext cx="274320" cy="0"/>
          </a:xfrm>
          <a:prstGeom prst="line">
            <a:avLst/>
          </a:prstGeom>
          <a:noFill/>
          <a:ln w="19050">
            <a:solidFill>
              <a:srgbClr val="065A82"/>
            </a:solidFill>
            <a:prstDash val="solid"/>
            <a:tailEnd type="triangle"/>
          </a:ln>
        </p:spPr>
      </p:sp>
      <p:sp>
        <p:nvSpPr>
          <p:cNvPr id="49" name="a3"/>
          <p:cNvSpPr/>
          <p:nvPr/>
        </p:nvSpPr>
        <p:spPr>
          <a:xfrm>
            <a:off x="6400800" y="1600200"/>
            <a:ext cx="274320" cy="0"/>
          </a:xfrm>
          <a:prstGeom prst="line">
            <a:avLst/>
          </a:prstGeom>
          <a:noFill/>
          <a:ln w="19050">
            <a:solidFill>
              <a:srgbClr val="065A82"/>
            </a:solidFill>
            <a:prstDash val="solid"/>
            <a:tailEnd type="triangle"/>
          </a:ln>
        </p:spPr>
      </p:sp>
      <p:sp>
        <p:nvSpPr>
          <p:cNvPr id="50" name="a4"/>
          <p:cNvSpPr/>
          <p:nvPr/>
        </p:nvSpPr>
        <p:spPr>
          <a:xfrm>
            <a:off x="5257800" y="2468880"/>
            <a:ext cx="0" cy="274320"/>
          </a:xfrm>
          <a:prstGeom prst="line">
            <a:avLst/>
          </a:prstGeom>
          <a:noFill/>
          <a:ln w="19050">
            <a:solidFill>
              <a:srgbClr val="065A82"/>
            </a:solidFill>
            <a:prstDash val="solid"/>
            <a:tailEnd type="triangle"/>
          </a:ln>
        </p:spPr>
      </p:sp>
      <p:sp>
        <p:nvSpPr>
          <p:cNvPr id="51" name="a5"/>
          <p:cNvSpPr/>
          <p:nvPr/>
        </p:nvSpPr>
        <p:spPr>
          <a:xfrm>
            <a:off x="3017520" y="2011680"/>
            <a:ext cx="0" cy="365760"/>
          </a:xfrm>
          <a:prstGeom prst="line">
            <a:avLst/>
          </a:prstGeom>
          <a:noFill/>
          <a:ln w="19050">
            <a:solidFill>
              <a:srgbClr val="065A82"/>
            </a:solidFill>
            <a:prstDash val="solid"/>
            <a:tailEnd type="triangle"/>
          </a:ln>
        </p:spPr>
      </p:sp>
      <p:sp>
        <p:nvSpPr>
          <p:cNvPr id="52" name="a6"/>
          <p:cNvSpPr/>
          <p:nvPr/>
        </p:nvSpPr>
        <p:spPr>
          <a:xfrm>
            <a:off x="3840480" y="2788920"/>
            <a:ext cx="274320" cy="228600"/>
          </a:xfrm>
          <a:prstGeom prst="line">
            <a:avLst/>
          </a:prstGeom>
          <a:noFill/>
          <a:ln w="19050">
            <a:solidFill>
              <a:srgbClr val="065A82"/>
            </a:solidFill>
            <a:prstDash val="solid"/>
            <a:tailEnd type="triangle"/>
          </a:ln>
        </p:spPr>
      </p:sp>
      <p:sp>
        <p:nvSpPr>
          <p:cNvPr id="53" name="a7"/>
          <p:cNvSpPr/>
          <p:nvPr/>
        </p:nvSpPr>
        <p:spPr>
          <a:xfrm>
            <a:off x="1920240" y="3154680"/>
            <a:ext cx="2194560" cy="411480"/>
          </a:xfrm>
          <a:prstGeom prst="line">
            <a:avLst/>
          </a:prstGeom>
          <a:noFill/>
          <a:ln w="19050">
            <a:solidFill>
              <a:srgbClr val="065A82"/>
            </a:solidFill>
            <a:prstDash val="solid"/>
            <a:tailEnd type="triangle"/>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Technology stack</a:t>
            </a:r>
            <a:endParaRPr lang="en-US" sz="3000" dirty="0"/>
          </a:p>
        </p:txBody>
      </p:sp>
      <p:sp>
        <p:nvSpPr>
          <p:cNvPr id="3" name="stack Application"/>
          <p:cNvSpPr/>
          <p:nvPr/>
        </p:nvSpPr>
        <p:spPr>
          <a:xfrm>
            <a:off x="457200" y="118872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4" name="Application circle"/>
          <p:cNvSpPr/>
          <p:nvPr/>
        </p:nvSpPr>
        <p:spPr>
          <a:xfrm>
            <a:off x="594360" y="1325880"/>
            <a:ext cx="457200" cy="457200"/>
          </a:xfrm>
          <a:prstGeom prst="ellipse">
            <a:avLst/>
          </a:prstGeom>
          <a:solidFill>
            <a:srgbClr val="1C7293"/>
          </a:solidFill>
          <a:ln w="12700">
            <a:solidFill>
              <a:srgbClr val="1C7293"/>
            </a:solidFill>
            <a:prstDash val="solid"/>
          </a:ln>
        </p:spPr>
      </p:sp>
      <p:pic>
        <p:nvPicPr>
          <p:cNvPr id="5" name="Application icon" descr="preencoded.png">    </p:cNvPr>
          <p:cNvPicPr>
            <a:picLocks noChangeAspect="1"/>
          </p:cNvPicPr>
          <p:nvPr/>
        </p:nvPicPr>
        <p:blipFill>
          <a:blip r:embed="rId1"/>
          <a:stretch>
            <a:fillRect/>
          </a:stretch>
        </p:blipFill>
        <p:spPr>
          <a:xfrm>
            <a:off x="708660" y="1440180"/>
            <a:ext cx="228600" cy="228600"/>
          </a:xfrm>
          <a:prstGeom prst="rect">
            <a:avLst/>
          </a:prstGeom>
        </p:spPr>
      </p:pic>
      <p:sp>
        <p:nvSpPr>
          <p:cNvPr id="6" name="Text 3"/>
          <p:cNvSpPr txBox="1"/>
          <p:nvPr/>
        </p:nvSpPr>
        <p:spPr>
          <a:xfrm>
            <a:off x="1143000" y="138988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Application</a:t>
            </a:r>
            <a:endParaRPr lang="en-US" sz="1300" dirty="0"/>
          </a:p>
        </p:txBody>
      </p:sp>
      <p:sp>
        <p:nvSpPr>
          <p:cNvPr id="7" name="Text 4"/>
          <p:cNvSpPr txBox="1"/>
          <p:nvPr/>
        </p:nvSpPr>
        <p:spPr>
          <a:xfrm>
            <a:off x="594360" y="1874520"/>
            <a:ext cx="1737360" cy="868680"/>
          </a:xfrm>
          <a:prstGeom prst="rect">
            <a:avLst/>
          </a:prstGeom>
          <a:noFill/>
          <a:ln/>
        </p:spPr>
        <p:txBody>
          <a:bodyPr wrap="square" lIns="0" tIns="0" rIns="0" bIns="0" rtlCol="0" anchor="ctr"/>
          <a:lstStyle/>
          <a:p>
            <a:pPr indent="0" marL="0">
              <a:buNone/>
            </a:pPr>
            <a:r>
              <a:rPr lang="en-US" sz="1050" dirty="0">
                <a:solidFill>
                  <a:schemeClr val="tx2"/>
                </a:solidFill>
              </a:rPr>
              <a:t>Python 3.12, Flask 3.1, SQLite, prometheus-client, gunicorn, pytest (17 tests, 92% coverage)</a:t>
            </a:r>
            <a:endParaRPr lang="en-US" sz="1050" dirty="0"/>
          </a:p>
        </p:txBody>
      </p:sp>
      <p:sp>
        <p:nvSpPr>
          <p:cNvPr id="8" name="stack Containers"/>
          <p:cNvSpPr/>
          <p:nvPr/>
        </p:nvSpPr>
        <p:spPr>
          <a:xfrm>
            <a:off x="2560320" y="118872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9" name="Containers circle"/>
          <p:cNvSpPr/>
          <p:nvPr/>
        </p:nvSpPr>
        <p:spPr>
          <a:xfrm>
            <a:off x="2697480" y="1325880"/>
            <a:ext cx="457200" cy="457200"/>
          </a:xfrm>
          <a:prstGeom prst="ellipse">
            <a:avLst/>
          </a:prstGeom>
          <a:solidFill>
            <a:srgbClr val="1C7293"/>
          </a:solidFill>
          <a:ln w="12700">
            <a:solidFill>
              <a:srgbClr val="1C7293"/>
            </a:solidFill>
            <a:prstDash val="solid"/>
          </a:ln>
        </p:spPr>
      </p:sp>
      <p:pic>
        <p:nvPicPr>
          <p:cNvPr id="10" name="Containers icon" descr="preencoded.png">    </p:cNvPr>
          <p:cNvPicPr>
            <a:picLocks noChangeAspect="1"/>
          </p:cNvPicPr>
          <p:nvPr/>
        </p:nvPicPr>
        <p:blipFill>
          <a:blip r:embed="rId2"/>
          <a:stretch>
            <a:fillRect/>
          </a:stretch>
        </p:blipFill>
        <p:spPr>
          <a:xfrm>
            <a:off x="2811780" y="1440180"/>
            <a:ext cx="228600" cy="228600"/>
          </a:xfrm>
          <a:prstGeom prst="rect">
            <a:avLst/>
          </a:prstGeom>
        </p:spPr>
      </p:pic>
      <p:sp>
        <p:nvSpPr>
          <p:cNvPr id="11" name="Text 7"/>
          <p:cNvSpPr txBox="1"/>
          <p:nvPr/>
        </p:nvSpPr>
        <p:spPr>
          <a:xfrm>
            <a:off x="3246120" y="138988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Containers</a:t>
            </a:r>
            <a:endParaRPr lang="en-US" sz="1300" dirty="0"/>
          </a:p>
        </p:txBody>
      </p:sp>
      <p:sp>
        <p:nvSpPr>
          <p:cNvPr id="12" name="Text 8"/>
          <p:cNvSpPr txBox="1"/>
          <p:nvPr/>
        </p:nvSpPr>
        <p:spPr>
          <a:xfrm>
            <a:off x="2697480" y="1874520"/>
            <a:ext cx="1737360" cy="868680"/>
          </a:xfrm>
          <a:prstGeom prst="rect">
            <a:avLst/>
          </a:prstGeom>
          <a:noFill/>
          <a:ln/>
        </p:spPr>
        <p:txBody>
          <a:bodyPr wrap="square" lIns="0" tIns="0" rIns="0" bIns="0" rtlCol="0" anchor="ctr"/>
          <a:lstStyle/>
          <a:p>
            <a:pPr indent="0" marL="0">
              <a:buNone/>
            </a:pPr>
            <a:r>
              <a:rPr lang="en-US" sz="1050" dirty="0">
                <a:solidFill>
                  <a:schemeClr val="tx2"/>
                </a:solidFill>
              </a:rPr>
              <a:t>Docker multi-stage build on python:3.12-alpine, non-root uid 10001, docker compose</a:t>
            </a:r>
            <a:endParaRPr lang="en-US" sz="1050" dirty="0"/>
          </a:p>
        </p:txBody>
      </p:sp>
      <p:sp>
        <p:nvSpPr>
          <p:cNvPr id="13" name="stack CI/CD"/>
          <p:cNvSpPr/>
          <p:nvPr/>
        </p:nvSpPr>
        <p:spPr>
          <a:xfrm>
            <a:off x="4663440" y="118872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4" name="CI/CD circle"/>
          <p:cNvSpPr/>
          <p:nvPr/>
        </p:nvSpPr>
        <p:spPr>
          <a:xfrm>
            <a:off x="4800600" y="1325880"/>
            <a:ext cx="457200" cy="457200"/>
          </a:xfrm>
          <a:prstGeom prst="ellipse">
            <a:avLst/>
          </a:prstGeom>
          <a:solidFill>
            <a:srgbClr val="1C7293"/>
          </a:solidFill>
          <a:ln w="12700">
            <a:solidFill>
              <a:srgbClr val="1C7293"/>
            </a:solidFill>
            <a:prstDash val="solid"/>
          </a:ln>
        </p:spPr>
      </p:sp>
      <p:pic>
        <p:nvPicPr>
          <p:cNvPr id="15" name="CI/CD icon" descr="preencoded.png">    </p:cNvPr>
          <p:cNvPicPr>
            <a:picLocks noChangeAspect="1"/>
          </p:cNvPicPr>
          <p:nvPr/>
        </p:nvPicPr>
        <p:blipFill>
          <a:blip r:embed="rId3"/>
          <a:stretch>
            <a:fillRect/>
          </a:stretch>
        </p:blipFill>
        <p:spPr>
          <a:xfrm>
            <a:off x="4914900" y="1440180"/>
            <a:ext cx="228600" cy="228600"/>
          </a:xfrm>
          <a:prstGeom prst="rect">
            <a:avLst/>
          </a:prstGeom>
        </p:spPr>
      </p:pic>
      <p:sp>
        <p:nvSpPr>
          <p:cNvPr id="16" name="Text 11"/>
          <p:cNvSpPr txBox="1"/>
          <p:nvPr/>
        </p:nvSpPr>
        <p:spPr>
          <a:xfrm>
            <a:off x="5349240" y="138988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CI/CD</a:t>
            </a:r>
            <a:endParaRPr lang="en-US" sz="1300" dirty="0"/>
          </a:p>
        </p:txBody>
      </p:sp>
      <p:sp>
        <p:nvSpPr>
          <p:cNvPr id="17" name="Text 12"/>
          <p:cNvSpPr txBox="1"/>
          <p:nvPr/>
        </p:nvSpPr>
        <p:spPr>
          <a:xfrm>
            <a:off x="4800600" y="1874520"/>
            <a:ext cx="1737360" cy="868680"/>
          </a:xfrm>
          <a:prstGeom prst="rect">
            <a:avLst/>
          </a:prstGeom>
          <a:noFill/>
          <a:ln/>
        </p:spPr>
        <p:txBody>
          <a:bodyPr wrap="square" lIns="0" tIns="0" rIns="0" bIns="0" rtlCol="0" anchor="ctr"/>
          <a:lstStyle/>
          <a:p>
            <a:pPr indent="0" marL="0">
              <a:buNone/>
            </a:pPr>
            <a:r>
              <a:rPr lang="en-US" sz="1050" dirty="0">
                <a:solidFill>
                  <a:schemeClr val="tx2"/>
                </a:solidFill>
              </a:rPr>
              <a:t>GitHub Actions with 9 jobs, artifacts, GHCR login with GITHUB_TOKEN, act for local runs</a:t>
            </a:r>
            <a:endParaRPr lang="en-US" sz="1050" dirty="0"/>
          </a:p>
        </p:txBody>
      </p:sp>
      <p:sp>
        <p:nvSpPr>
          <p:cNvPr id="18" name="stack DevSecOps"/>
          <p:cNvSpPr/>
          <p:nvPr/>
        </p:nvSpPr>
        <p:spPr>
          <a:xfrm>
            <a:off x="6766560" y="118872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9" name="DevSecOps circle"/>
          <p:cNvSpPr/>
          <p:nvPr/>
        </p:nvSpPr>
        <p:spPr>
          <a:xfrm>
            <a:off x="6903720" y="1325880"/>
            <a:ext cx="457200" cy="457200"/>
          </a:xfrm>
          <a:prstGeom prst="ellipse">
            <a:avLst/>
          </a:prstGeom>
          <a:solidFill>
            <a:srgbClr val="1C7293"/>
          </a:solidFill>
          <a:ln w="12700">
            <a:solidFill>
              <a:srgbClr val="1C7293"/>
            </a:solidFill>
            <a:prstDash val="solid"/>
          </a:ln>
        </p:spPr>
      </p:sp>
      <p:pic>
        <p:nvPicPr>
          <p:cNvPr id="20" name="DevSecOps icon" descr="preencoded.png">    </p:cNvPr>
          <p:cNvPicPr>
            <a:picLocks noChangeAspect="1"/>
          </p:cNvPicPr>
          <p:nvPr/>
        </p:nvPicPr>
        <p:blipFill>
          <a:blip r:embed="rId4"/>
          <a:stretch>
            <a:fillRect/>
          </a:stretch>
        </p:blipFill>
        <p:spPr>
          <a:xfrm>
            <a:off x="7018020" y="1440180"/>
            <a:ext cx="228600" cy="228600"/>
          </a:xfrm>
          <a:prstGeom prst="rect">
            <a:avLst/>
          </a:prstGeom>
        </p:spPr>
      </p:pic>
      <p:sp>
        <p:nvSpPr>
          <p:cNvPr id="21" name="Text 15"/>
          <p:cNvSpPr txBox="1"/>
          <p:nvPr/>
        </p:nvSpPr>
        <p:spPr>
          <a:xfrm>
            <a:off x="7452360" y="138988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DevSecOps</a:t>
            </a:r>
            <a:endParaRPr lang="en-US" sz="1300" dirty="0"/>
          </a:p>
        </p:txBody>
      </p:sp>
      <p:sp>
        <p:nvSpPr>
          <p:cNvPr id="22" name="Text 16"/>
          <p:cNvSpPr txBox="1"/>
          <p:nvPr/>
        </p:nvSpPr>
        <p:spPr>
          <a:xfrm>
            <a:off x="6903720" y="1874520"/>
            <a:ext cx="1737360" cy="868680"/>
          </a:xfrm>
          <a:prstGeom prst="rect">
            <a:avLst/>
          </a:prstGeom>
          <a:noFill/>
          <a:ln/>
        </p:spPr>
        <p:txBody>
          <a:bodyPr wrap="square" lIns="0" tIns="0" rIns="0" bIns="0" rtlCol="0" anchor="ctr"/>
          <a:lstStyle/>
          <a:p>
            <a:pPr indent="0" marL="0">
              <a:buNone/>
            </a:pPr>
            <a:r>
              <a:rPr lang="en-US" sz="1050" dirty="0">
                <a:solidFill>
                  <a:schemeClr val="tx2"/>
                </a:solidFill>
              </a:rPr>
              <a:t>Bandit, pip-audit, gitleaks, Trivy, CodeQL and a security-gate job</a:t>
            </a:r>
            <a:endParaRPr lang="en-US" sz="1050" dirty="0"/>
          </a:p>
        </p:txBody>
      </p:sp>
      <p:sp>
        <p:nvSpPr>
          <p:cNvPr id="23" name="stack Kubernetes + Helm"/>
          <p:cNvSpPr/>
          <p:nvPr/>
        </p:nvSpPr>
        <p:spPr>
          <a:xfrm>
            <a:off x="457200" y="292608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4" name="Kubernetes + Helm circle"/>
          <p:cNvSpPr/>
          <p:nvPr/>
        </p:nvSpPr>
        <p:spPr>
          <a:xfrm>
            <a:off x="594360" y="3063240"/>
            <a:ext cx="457200" cy="457200"/>
          </a:xfrm>
          <a:prstGeom prst="ellipse">
            <a:avLst/>
          </a:prstGeom>
          <a:solidFill>
            <a:srgbClr val="1C7293"/>
          </a:solidFill>
          <a:ln w="12700">
            <a:solidFill>
              <a:srgbClr val="1C7293"/>
            </a:solidFill>
            <a:prstDash val="solid"/>
          </a:ln>
        </p:spPr>
      </p:sp>
      <p:pic>
        <p:nvPicPr>
          <p:cNvPr id="25" name="Kubernetes + Helm icon" descr="preencoded.png">    </p:cNvPr>
          <p:cNvPicPr>
            <a:picLocks noChangeAspect="1"/>
          </p:cNvPicPr>
          <p:nvPr/>
        </p:nvPicPr>
        <p:blipFill>
          <a:blip r:embed="rId5"/>
          <a:stretch>
            <a:fillRect/>
          </a:stretch>
        </p:blipFill>
        <p:spPr>
          <a:xfrm>
            <a:off x="708660" y="3177540"/>
            <a:ext cx="228600" cy="228600"/>
          </a:xfrm>
          <a:prstGeom prst="rect">
            <a:avLst/>
          </a:prstGeom>
        </p:spPr>
      </p:pic>
      <p:sp>
        <p:nvSpPr>
          <p:cNvPr id="26" name="Text 19"/>
          <p:cNvSpPr txBox="1"/>
          <p:nvPr/>
        </p:nvSpPr>
        <p:spPr>
          <a:xfrm>
            <a:off x="1143000" y="312724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Kubernetes + Helm</a:t>
            </a:r>
            <a:endParaRPr lang="en-US" sz="1300" dirty="0"/>
          </a:p>
        </p:txBody>
      </p:sp>
      <p:sp>
        <p:nvSpPr>
          <p:cNvPr id="27" name="Text 20"/>
          <p:cNvSpPr txBox="1"/>
          <p:nvPr/>
        </p:nvSpPr>
        <p:spPr>
          <a:xfrm>
            <a:off x="594360" y="3611880"/>
            <a:ext cx="1737360" cy="868680"/>
          </a:xfrm>
          <a:prstGeom prst="rect">
            <a:avLst/>
          </a:prstGeom>
          <a:noFill/>
          <a:ln/>
        </p:spPr>
        <p:txBody>
          <a:bodyPr wrap="square" lIns="0" tIns="0" rIns="0" bIns="0" rtlCol="0" anchor="ctr"/>
          <a:lstStyle/>
          <a:p>
            <a:pPr indent="0" marL="0">
              <a:buNone/>
            </a:pPr>
            <a:r>
              <a:rPr lang="en-US" sz="1050" dirty="0">
                <a:solidFill>
                  <a:schemeClr val="tx2"/>
                </a:solidFill>
              </a:rPr>
              <a:t>minikube 1.39 / Kubernetes 1.37, nginx ingress, metrics-server, HPA, probes, PVC, Helm chart</a:t>
            </a:r>
            <a:endParaRPr lang="en-US" sz="1050" dirty="0"/>
          </a:p>
        </p:txBody>
      </p:sp>
      <p:sp>
        <p:nvSpPr>
          <p:cNvPr id="28" name="stack Infrastructure"/>
          <p:cNvSpPr/>
          <p:nvPr/>
        </p:nvSpPr>
        <p:spPr>
          <a:xfrm>
            <a:off x="2560320" y="292608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9" name="Infrastructure circle"/>
          <p:cNvSpPr/>
          <p:nvPr/>
        </p:nvSpPr>
        <p:spPr>
          <a:xfrm>
            <a:off x="2697480" y="3063240"/>
            <a:ext cx="457200" cy="457200"/>
          </a:xfrm>
          <a:prstGeom prst="ellipse">
            <a:avLst/>
          </a:prstGeom>
          <a:solidFill>
            <a:srgbClr val="1C7293"/>
          </a:solidFill>
          <a:ln w="12700">
            <a:solidFill>
              <a:srgbClr val="1C7293"/>
            </a:solidFill>
            <a:prstDash val="solid"/>
          </a:ln>
        </p:spPr>
      </p:sp>
      <p:pic>
        <p:nvPicPr>
          <p:cNvPr id="30" name="Infrastructure icon" descr="preencoded.png">    </p:cNvPr>
          <p:cNvPicPr>
            <a:picLocks noChangeAspect="1"/>
          </p:cNvPicPr>
          <p:nvPr/>
        </p:nvPicPr>
        <p:blipFill>
          <a:blip r:embed="rId6"/>
          <a:stretch>
            <a:fillRect/>
          </a:stretch>
        </p:blipFill>
        <p:spPr>
          <a:xfrm>
            <a:off x="2811780" y="3177540"/>
            <a:ext cx="228600" cy="228600"/>
          </a:xfrm>
          <a:prstGeom prst="rect">
            <a:avLst/>
          </a:prstGeom>
        </p:spPr>
      </p:pic>
      <p:sp>
        <p:nvSpPr>
          <p:cNvPr id="31" name="Text 23"/>
          <p:cNvSpPr txBox="1"/>
          <p:nvPr/>
        </p:nvSpPr>
        <p:spPr>
          <a:xfrm>
            <a:off x="3246120" y="312724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Infrastructure</a:t>
            </a:r>
            <a:endParaRPr lang="en-US" sz="1300" dirty="0"/>
          </a:p>
        </p:txBody>
      </p:sp>
      <p:sp>
        <p:nvSpPr>
          <p:cNvPr id="32" name="Text 24"/>
          <p:cNvSpPr txBox="1"/>
          <p:nvPr/>
        </p:nvSpPr>
        <p:spPr>
          <a:xfrm>
            <a:off x="2697480" y="3611880"/>
            <a:ext cx="1737360" cy="868680"/>
          </a:xfrm>
          <a:prstGeom prst="rect">
            <a:avLst/>
          </a:prstGeom>
          <a:noFill/>
          <a:ln/>
        </p:spPr>
        <p:txBody>
          <a:bodyPr wrap="square" lIns="0" tIns="0" rIns="0" bIns="0" rtlCol="0" anchor="ctr"/>
          <a:lstStyle/>
          <a:p>
            <a:pPr indent="0" marL="0">
              <a:buNone/>
            </a:pPr>
            <a:r>
              <a:rPr lang="en-US" sz="1050" dirty="0">
                <a:solidFill>
                  <a:schemeClr val="tx2"/>
                </a:solidFill>
              </a:rPr>
              <a:t>Terraform 1.14 with the AWS provider 6.x: VPC, subnet, IGW, route table, SG, EC2, S3</a:t>
            </a:r>
            <a:endParaRPr lang="en-US" sz="1050" dirty="0"/>
          </a:p>
        </p:txBody>
      </p:sp>
      <p:sp>
        <p:nvSpPr>
          <p:cNvPr id="33" name="stack Monitoring"/>
          <p:cNvSpPr/>
          <p:nvPr/>
        </p:nvSpPr>
        <p:spPr>
          <a:xfrm>
            <a:off x="4663440" y="292608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34" name="Monitoring circle"/>
          <p:cNvSpPr/>
          <p:nvPr/>
        </p:nvSpPr>
        <p:spPr>
          <a:xfrm>
            <a:off x="4800600" y="3063240"/>
            <a:ext cx="457200" cy="457200"/>
          </a:xfrm>
          <a:prstGeom prst="ellipse">
            <a:avLst/>
          </a:prstGeom>
          <a:solidFill>
            <a:srgbClr val="1C7293"/>
          </a:solidFill>
          <a:ln w="12700">
            <a:solidFill>
              <a:srgbClr val="1C7293"/>
            </a:solidFill>
            <a:prstDash val="solid"/>
          </a:ln>
        </p:spPr>
      </p:sp>
      <p:pic>
        <p:nvPicPr>
          <p:cNvPr id="35" name="Monitoring icon" descr="preencoded.png">    </p:cNvPr>
          <p:cNvPicPr>
            <a:picLocks noChangeAspect="1"/>
          </p:cNvPicPr>
          <p:nvPr/>
        </p:nvPicPr>
        <p:blipFill>
          <a:blip r:embed="rId7"/>
          <a:stretch>
            <a:fillRect/>
          </a:stretch>
        </p:blipFill>
        <p:spPr>
          <a:xfrm>
            <a:off x="4914900" y="3177540"/>
            <a:ext cx="228600" cy="228600"/>
          </a:xfrm>
          <a:prstGeom prst="rect">
            <a:avLst/>
          </a:prstGeom>
        </p:spPr>
      </p:pic>
      <p:sp>
        <p:nvSpPr>
          <p:cNvPr id="36" name="Text 27"/>
          <p:cNvSpPr txBox="1"/>
          <p:nvPr/>
        </p:nvSpPr>
        <p:spPr>
          <a:xfrm>
            <a:off x="5349240" y="312724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Monitoring</a:t>
            </a:r>
            <a:endParaRPr lang="en-US" sz="1300" dirty="0"/>
          </a:p>
        </p:txBody>
      </p:sp>
      <p:sp>
        <p:nvSpPr>
          <p:cNvPr id="37" name="Text 28"/>
          <p:cNvSpPr txBox="1"/>
          <p:nvPr/>
        </p:nvSpPr>
        <p:spPr>
          <a:xfrm>
            <a:off x="4800600" y="3611880"/>
            <a:ext cx="1737360" cy="868680"/>
          </a:xfrm>
          <a:prstGeom prst="rect">
            <a:avLst/>
          </a:prstGeom>
          <a:noFill/>
          <a:ln/>
        </p:spPr>
        <p:txBody>
          <a:bodyPr wrap="square" lIns="0" tIns="0" rIns="0" bIns="0" rtlCol="0" anchor="ctr"/>
          <a:lstStyle/>
          <a:p>
            <a:pPr indent="0" marL="0">
              <a:buNone/>
            </a:pPr>
            <a:r>
              <a:rPr lang="en-US" sz="1050" dirty="0">
                <a:solidFill>
                  <a:schemeClr val="tx2"/>
                </a:solidFill>
              </a:rPr>
              <a:t>Prometheus 3.5, Grafana 11, alert rules, ServiceMonitor and PrometheusRule manifests</a:t>
            </a:r>
            <a:endParaRPr lang="en-US" sz="1050" dirty="0"/>
          </a:p>
        </p:txBody>
      </p:sp>
      <p:sp>
        <p:nvSpPr>
          <p:cNvPr id="38" name="stack GitOps"/>
          <p:cNvSpPr/>
          <p:nvPr/>
        </p:nvSpPr>
        <p:spPr>
          <a:xfrm>
            <a:off x="6766560" y="2926080"/>
            <a:ext cx="1965960" cy="1600200"/>
          </a:xfrm>
          <a:prstGeom prst="roundRect">
            <a:avLst>
              <a:gd name="adj" fmla="val 457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39" name="GitOps circle"/>
          <p:cNvSpPr/>
          <p:nvPr/>
        </p:nvSpPr>
        <p:spPr>
          <a:xfrm>
            <a:off x="6903720" y="3063240"/>
            <a:ext cx="457200" cy="457200"/>
          </a:xfrm>
          <a:prstGeom prst="ellipse">
            <a:avLst/>
          </a:prstGeom>
          <a:solidFill>
            <a:srgbClr val="1C7293"/>
          </a:solidFill>
          <a:ln w="12700">
            <a:solidFill>
              <a:srgbClr val="1C7293"/>
            </a:solidFill>
            <a:prstDash val="solid"/>
          </a:ln>
        </p:spPr>
      </p:sp>
      <p:pic>
        <p:nvPicPr>
          <p:cNvPr id="40" name="GitOps icon" descr="preencoded.png">    </p:cNvPr>
          <p:cNvPicPr>
            <a:picLocks noChangeAspect="1"/>
          </p:cNvPicPr>
          <p:nvPr/>
        </p:nvPicPr>
        <p:blipFill>
          <a:blip r:embed="rId8"/>
          <a:stretch>
            <a:fillRect/>
          </a:stretch>
        </p:blipFill>
        <p:spPr>
          <a:xfrm>
            <a:off x="7018020" y="3177540"/>
            <a:ext cx="228600" cy="228600"/>
          </a:xfrm>
          <a:prstGeom prst="rect">
            <a:avLst/>
          </a:prstGeom>
        </p:spPr>
      </p:pic>
      <p:sp>
        <p:nvSpPr>
          <p:cNvPr id="41" name="Text 31"/>
          <p:cNvSpPr txBox="1"/>
          <p:nvPr/>
        </p:nvSpPr>
        <p:spPr>
          <a:xfrm>
            <a:off x="7452360" y="3127248"/>
            <a:ext cx="1234440" cy="320040"/>
          </a:xfrm>
          <a:prstGeom prst="rect">
            <a:avLst/>
          </a:prstGeom>
          <a:noFill/>
          <a:ln/>
        </p:spPr>
        <p:txBody>
          <a:bodyPr wrap="square" lIns="0" tIns="0" rIns="0" bIns="0" rtlCol="0" anchor="ctr"/>
          <a:lstStyle/>
          <a:p>
            <a:pPr indent="0" marL="0">
              <a:buNone/>
            </a:pPr>
            <a:r>
              <a:rPr lang="en-US" sz="1300" b="1" dirty="0">
                <a:solidFill>
                  <a:schemeClr val="tx1"/>
                </a:solidFill>
              </a:rPr>
              <a:t>GitOps</a:t>
            </a:r>
            <a:endParaRPr lang="en-US" sz="1300" dirty="0"/>
          </a:p>
        </p:txBody>
      </p:sp>
      <p:sp>
        <p:nvSpPr>
          <p:cNvPr id="42" name="Text 32"/>
          <p:cNvSpPr txBox="1"/>
          <p:nvPr/>
        </p:nvSpPr>
        <p:spPr>
          <a:xfrm>
            <a:off x="6903720" y="3611880"/>
            <a:ext cx="1737360" cy="868680"/>
          </a:xfrm>
          <a:prstGeom prst="rect">
            <a:avLst/>
          </a:prstGeom>
          <a:noFill/>
          <a:ln/>
        </p:spPr>
        <p:txBody>
          <a:bodyPr wrap="square" lIns="0" tIns="0" rIns="0" bIns="0" rtlCol="0" anchor="ctr"/>
          <a:lstStyle/>
          <a:p>
            <a:pPr indent="0" marL="0">
              <a:buNone/>
            </a:pPr>
            <a:r>
              <a:rPr lang="en-US" sz="1050" dirty="0">
                <a:solidFill>
                  <a:schemeClr val="tx2"/>
                </a:solidFill>
              </a:rPr>
              <a:t>Argo CD Application with automated sync, prune and self-heal over kustomize manifests</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Application, tests and container image</a:t>
            </a:r>
            <a:endParaRPr lang="en-US" sz="3000" dirty="0"/>
          </a:p>
        </p:txBody>
      </p:sp>
      <p:sp>
        <p:nvSpPr>
          <p:cNvPr id="3" name="stat pytest tests passing"/>
          <p:cNvSpPr/>
          <p:nvPr/>
        </p:nvSpPr>
        <p:spPr>
          <a:xfrm>
            <a:off x="457200" y="1188720"/>
            <a:ext cx="2651760" cy="1371600"/>
          </a:xfrm>
          <a:prstGeom prst="roundRect">
            <a:avLst>
              <a:gd name="adj" fmla="val 533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640080" y="1261872"/>
            <a:ext cx="2286000" cy="685800"/>
          </a:xfrm>
          <a:prstGeom prst="rect">
            <a:avLst/>
          </a:prstGeom>
          <a:noFill/>
          <a:ln/>
        </p:spPr>
        <p:txBody>
          <a:bodyPr wrap="square" lIns="0" tIns="0" rIns="0" bIns="0" rtlCol="0" anchor="ctr"/>
          <a:lstStyle/>
          <a:p>
            <a:pPr indent="0" marL="0">
              <a:buNone/>
            </a:pPr>
            <a:r>
              <a:rPr lang="en-US" sz="4000" b="1" dirty="0">
                <a:solidFill>
                  <a:schemeClr val="accent3"/>
                </a:solidFill>
              </a:rPr>
              <a:t>17</a:t>
            </a:r>
            <a:endParaRPr lang="en-US" sz="4000" dirty="0"/>
          </a:p>
        </p:txBody>
      </p:sp>
      <p:sp>
        <p:nvSpPr>
          <p:cNvPr id="5" name="Text 3"/>
          <p:cNvSpPr txBox="1"/>
          <p:nvPr/>
        </p:nvSpPr>
        <p:spPr>
          <a:xfrm>
            <a:off x="640080" y="1965960"/>
            <a:ext cx="2286000" cy="274320"/>
          </a:xfrm>
          <a:prstGeom prst="rect">
            <a:avLst/>
          </a:prstGeom>
          <a:noFill/>
          <a:ln/>
        </p:spPr>
        <p:txBody>
          <a:bodyPr wrap="square" lIns="0" tIns="0" rIns="0" bIns="0" rtlCol="0" anchor="ctr"/>
          <a:lstStyle/>
          <a:p>
            <a:pPr indent="0" marL="0">
              <a:buNone/>
            </a:pPr>
            <a:r>
              <a:rPr lang="en-US" sz="1200" b="1" dirty="0">
                <a:solidFill>
                  <a:schemeClr val="tx1"/>
                </a:solidFill>
              </a:rPr>
              <a:t>pytest tests passing</a:t>
            </a:r>
            <a:endParaRPr lang="en-US" sz="1200" dirty="0"/>
          </a:p>
        </p:txBody>
      </p:sp>
      <p:sp>
        <p:nvSpPr>
          <p:cNvPr id="6" name="Text 4"/>
          <p:cNvSpPr txBox="1"/>
          <p:nvPr/>
        </p:nvSpPr>
        <p:spPr>
          <a:xfrm>
            <a:off x="640080" y="2221992"/>
            <a:ext cx="2286000" cy="274320"/>
          </a:xfrm>
          <a:prstGeom prst="rect">
            <a:avLst/>
          </a:prstGeom>
          <a:noFill/>
          <a:ln/>
        </p:spPr>
        <p:txBody>
          <a:bodyPr wrap="square" lIns="0" tIns="0" rIns="0" bIns="0" rtlCol="0" anchor="ctr"/>
          <a:lstStyle/>
          <a:p>
            <a:pPr indent="0" marL="0">
              <a:buNone/>
            </a:pPr>
            <a:r>
              <a:rPr lang="en-US" sz="1050" dirty="0">
                <a:solidFill>
                  <a:schemeClr val="tx2"/>
                </a:solidFill>
              </a:rPr>
              <a:t>92% line coverage</a:t>
            </a:r>
            <a:endParaRPr lang="en-US" sz="1050" dirty="0"/>
          </a:p>
        </p:txBody>
      </p:sp>
      <p:sp>
        <p:nvSpPr>
          <p:cNvPr id="7" name="stat HIGH / CRITICAL CVEs"/>
          <p:cNvSpPr/>
          <p:nvPr/>
        </p:nvSpPr>
        <p:spPr>
          <a:xfrm>
            <a:off x="3246120" y="1188720"/>
            <a:ext cx="2651760" cy="1371600"/>
          </a:xfrm>
          <a:prstGeom prst="roundRect">
            <a:avLst>
              <a:gd name="adj" fmla="val 533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8" name="Text 6"/>
          <p:cNvSpPr txBox="1"/>
          <p:nvPr/>
        </p:nvSpPr>
        <p:spPr>
          <a:xfrm>
            <a:off x="3429000" y="1261872"/>
            <a:ext cx="2286000" cy="685800"/>
          </a:xfrm>
          <a:prstGeom prst="rect">
            <a:avLst/>
          </a:prstGeom>
          <a:noFill/>
          <a:ln/>
        </p:spPr>
        <p:txBody>
          <a:bodyPr wrap="square" lIns="0" tIns="0" rIns="0" bIns="0" rtlCol="0" anchor="ctr"/>
          <a:lstStyle/>
          <a:p>
            <a:pPr indent="0" marL="0">
              <a:buNone/>
            </a:pPr>
            <a:r>
              <a:rPr lang="en-US" sz="4000" b="1" dirty="0">
                <a:solidFill>
                  <a:schemeClr val="accent3"/>
                </a:solidFill>
              </a:rPr>
              <a:t>0</a:t>
            </a:r>
            <a:endParaRPr lang="en-US" sz="4000" dirty="0"/>
          </a:p>
        </p:txBody>
      </p:sp>
      <p:sp>
        <p:nvSpPr>
          <p:cNvPr id="9" name="Text 7"/>
          <p:cNvSpPr txBox="1"/>
          <p:nvPr/>
        </p:nvSpPr>
        <p:spPr>
          <a:xfrm>
            <a:off x="3429000" y="1965960"/>
            <a:ext cx="2286000" cy="274320"/>
          </a:xfrm>
          <a:prstGeom prst="rect">
            <a:avLst/>
          </a:prstGeom>
          <a:noFill/>
          <a:ln/>
        </p:spPr>
        <p:txBody>
          <a:bodyPr wrap="square" lIns="0" tIns="0" rIns="0" bIns="0" rtlCol="0" anchor="ctr"/>
          <a:lstStyle/>
          <a:p>
            <a:pPr indent="0" marL="0">
              <a:buNone/>
            </a:pPr>
            <a:r>
              <a:rPr lang="en-US" sz="1200" b="1" dirty="0">
                <a:solidFill>
                  <a:schemeClr val="tx1"/>
                </a:solidFill>
              </a:rPr>
              <a:t>HIGH / CRITICAL CVEs</a:t>
            </a:r>
            <a:endParaRPr lang="en-US" sz="1200" dirty="0"/>
          </a:p>
        </p:txBody>
      </p:sp>
      <p:sp>
        <p:nvSpPr>
          <p:cNvPr id="10" name="Text 8"/>
          <p:cNvSpPr txBox="1"/>
          <p:nvPr/>
        </p:nvSpPr>
        <p:spPr>
          <a:xfrm>
            <a:off x="3429000" y="2221992"/>
            <a:ext cx="2286000" cy="274320"/>
          </a:xfrm>
          <a:prstGeom prst="rect">
            <a:avLst/>
          </a:prstGeom>
          <a:noFill/>
          <a:ln/>
        </p:spPr>
        <p:txBody>
          <a:bodyPr wrap="square" lIns="0" tIns="0" rIns="0" bIns="0" rtlCol="0" anchor="ctr"/>
          <a:lstStyle/>
          <a:p>
            <a:pPr indent="0" marL="0">
              <a:buNone/>
            </a:pPr>
            <a:r>
              <a:rPr lang="en-US" sz="1050" dirty="0">
                <a:solidFill>
                  <a:schemeClr val="tx2"/>
                </a:solidFill>
              </a:rPr>
              <a:t>Trivy on the final image</a:t>
            </a:r>
            <a:endParaRPr lang="en-US" sz="1050" dirty="0"/>
          </a:p>
        </p:txBody>
      </p:sp>
      <p:sp>
        <p:nvSpPr>
          <p:cNvPr id="11" name="stat non-root container user"/>
          <p:cNvSpPr/>
          <p:nvPr/>
        </p:nvSpPr>
        <p:spPr>
          <a:xfrm>
            <a:off x="6035040" y="1188720"/>
            <a:ext cx="2651760" cy="1371600"/>
          </a:xfrm>
          <a:prstGeom prst="roundRect">
            <a:avLst>
              <a:gd name="adj" fmla="val 533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2" name="Text 10"/>
          <p:cNvSpPr txBox="1"/>
          <p:nvPr/>
        </p:nvSpPr>
        <p:spPr>
          <a:xfrm>
            <a:off x="6217920" y="1261872"/>
            <a:ext cx="2286000" cy="685800"/>
          </a:xfrm>
          <a:prstGeom prst="rect">
            <a:avLst/>
          </a:prstGeom>
          <a:noFill/>
          <a:ln/>
        </p:spPr>
        <p:txBody>
          <a:bodyPr wrap="square" lIns="0" tIns="0" rIns="0" bIns="0" rtlCol="0" anchor="ctr"/>
          <a:lstStyle/>
          <a:p>
            <a:pPr indent="0" marL="0">
              <a:buNone/>
            </a:pPr>
            <a:r>
              <a:rPr lang="en-US" sz="4000" b="1" dirty="0">
                <a:solidFill>
                  <a:schemeClr val="accent3"/>
                </a:solidFill>
              </a:rPr>
              <a:t>10001</a:t>
            </a:r>
            <a:endParaRPr lang="en-US" sz="4000" dirty="0"/>
          </a:p>
        </p:txBody>
      </p:sp>
      <p:sp>
        <p:nvSpPr>
          <p:cNvPr id="13" name="Text 11"/>
          <p:cNvSpPr txBox="1"/>
          <p:nvPr/>
        </p:nvSpPr>
        <p:spPr>
          <a:xfrm>
            <a:off x="6217920" y="1965960"/>
            <a:ext cx="2286000" cy="274320"/>
          </a:xfrm>
          <a:prstGeom prst="rect">
            <a:avLst/>
          </a:prstGeom>
          <a:noFill/>
          <a:ln/>
        </p:spPr>
        <p:txBody>
          <a:bodyPr wrap="square" lIns="0" tIns="0" rIns="0" bIns="0" rtlCol="0" anchor="ctr"/>
          <a:lstStyle/>
          <a:p>
            <a:pPr indent="0" marL="0">
              <a:buNone/>
            </a:pPr>
            <a:r>
              <a:rPr lang="en-US" sz="1200" b="1" dirty="0">
                <a:solidFill>
                  <a:schemeClr val="tx1"/>
                </a:solidFill>
              </a:rPr>
              <a:t>non-root container user</a:t>
            </a:r>
            <a:endParaRPr lang="en-US" sz="1200" dirty="0"/>
          </a:p>
        </p:txBody>
      </p:sp>
      <p:sp>
        <p:nvSpPr>
          <p:cNvPr id="14" name="Text 12"/>
          <p:cNvSpPr txBox="1"/>
          <p:nvPr/>
        </p:nvSpPr>
        <p:spPr>
          <a:xfrm>
            <a:off x="6217920" y="2221992"/>
            <a:ext cx="2286000" cy="274320"/>
          </a:xfrm>
          <a:prstGeom prst="rect">
            <a:avLst/>
          </a:prstGeom>
          <a:noFill/>
          <a:ln/>
        </p:spPr>
        <p:txBody>
          <a:bodyPr wrap="square" lIns="0" tIns="0" rIns="0" bIns="0" rtlCol="0" anchor="ctr"/>
          <a:lstStyle/>
          <a:p>
            <a:pPr indent="0" marL="0">
              <a:buNone/>
            </a:pPr>
            <a:r>
              <a:rPr lang="en-US" sz="1050" dirty="0">
                <a:solidFill>
                  <a:schemeClr val="tx2"/>
                </a:solidFill>
              </a:rPr>
              <a:t>read-only friendly, Alpine base</a:t>
            </a:r>
            <a:endParaRPr lang="en-US" sz="1050" dirty="0"/>
          </a:p>
        </p:txBody>
      </p:sp>
      <p:sp>
        <p:nvSpPr>
          <p:cNvPr id="15" name="Text 13"/>
          <p:cNvSpPr txBox="1"/>
          <p:nvPr/>
        </p:nvSpPr>
        <p:spPr>
          <a:xfrm>
            <a:off x="457200" y="2788920"/>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REST API</a:t>
            </a:r>
            <a:endParaRPr lang="en-US" sz="1400" dirty="0"/>
          </a:p>
        </p:txBody>
      </p:sp>
      <p:sp>
        <p:nvSpPr>
          <p:cNvPr id="16" name="Text 14"/>
          <p:cNvSpPr txBox="1"/>
          <p:nvPr/>
        </p:nvSpPr>
        <p:spPr>
          <a:xfrm>
            <a:off x="457200" y="3063240"/>
            <a:ext cx="4206240" cy="14630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chemeClr val="tx2"/>
                </a:solidFill>
              </a:rPr>
              <a:t>GET /health (liveness), GET /ready (readiness, checks the database), GET /metrics (Prometheus)</a:t>
            </a:r>
            <a:endParaRPr lang="en-US" sz="1150" dirty="0"/>
          </a:p>
          <a:p>
            <a:pPr marL="342900" indent="-342900">
              <a:spcAft>
                <a:spcPts val="600"/>
              </a:spcAft>
              <a:buSzPct val="100000"/>
              <a:buChar char="•"/>
            </a:pPr>
            <a:r>
              <a:rPr lang="en-US" sz="1150" dirty="0">
                <a:solidFill>
                  <a:schemeClr val="tx2"/>
                </a:solidFill>
              </a:rPr>
              <a:t>GET/POST /api/tasks, GET/PUT/DELETE /api/tasks/&lt;id&gt;, GET /api/tasks/stats, GET /api/config</a:t>
            </a:r>
            <a:endParaRPr lang="en-US" sz="1150" dirty="0"/>
          </a:p>
          <a:p>
            <a:pPr marL="342900" indent="-342900">
              <a:spcAft>
                <a:spcPts val="600"/>
              </a:spcAft>
              <a:buSzPct val="100000"/>
              <a:buChar char="•"/>
            </a:pPr>
            <a:r>
              <a:rPr lang="en-US" sz="1150" dirty="0">
                <a:solidFill>
                  <a:schemeClr val="tx2"/>
                </a:solidFill>
              </a:rPr>
              <a:t>Configuration from environment: APP_ENV, LOG_LEVEL, FEATURE_FLAGS, DB_PASSWORD (never printed)</a:t>
            </a:r>
            <a:endParaRPr lang="en-US" sz="1150" dirty="0"/>
          </a:p>
        </p:txBody>
      </p:sp>
      <p:sp>
        <p:nvSpPr>
          <p:cNvPr id="17" name="Text 15"/>
          <p:cNvSpPr txBox="1"/>
          <p:nvPr/>
        </p:nvSpPr>
        <p:spPr>
          <a:xfrm>
            <a:off x="4937760" y="2788920"/>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Docker</a:t>
            </a:r>
            <a:endParaRPr lang="en-US" sz="1400" dirty="0"/>
          </a:p>
        </p:txBody>
      </p:sp>
      <p:sp>
        <p:nvSpPr>
          <p:cNvPr id="18" name="Text 16"/>
          <p:cNvSpPr txBox="1"/>
          <p:nvPr/>
        </p:nvSpPr>
        <p:spPr>
          <a:xfrm>
            <a:off x="4937760" y="3063240"/>
            <a:ext cx="3749040" cy="14630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chemeClr val="tx2"/>
                </a:solidFill>
              </a:rPr>
              <a:t>Stage 1 installs dependencies; stage 2 copies only the result into python:3.12-alpine</a:t>
            </a:r>
            <a:endParaRPr lang="en-US" sz="1150" dirty="0"/>
          </a:p>
          <a:p>
            <a:pPr marL="342900" indent="-342900">
              <a:spcAft>
                <a:spcPts val="600"/>
              </a:spcAft>
              <a:buSzPct val="100000"/>
              <a:buChar char="•"/>
            </a:pPr>
            <a:r>
              <a:rPr lang="en-US" sz="1150" dirty="0">
                <a:solidFill>
                  <a:schemeClr val="tx2"/>
                </a:solidFill>
              </a:rPr>
              <a:t>The Debian slim base failed the Trivy gate with 44 HIGH CVEs; switching to Alpine gave a clean scan</a:t>
            </a:r>
            <a:endParaRPr lang="en-US" sz="1150" dirty="0"/>
          </a:p>
          <a:p>
            <a:pPr marL="342900" indent="-342900">
              <a:spcAft>
                <a:spcPts val="600"/>
              </a:spcAft>
              <a:buSzPct val="100000"/>
              <a:buChar char="•"/>
            </a:pPr>
            <a:r>
              <a:rPr lang="en-US" sz="1150" dirty="0">
                <a:solidFill>
                  <a:schemeClr val="tx2"/>
                </a:solidFill>
              </a:rPr>
              <a:t>docker compose runs the app with Prometheus and Grafana for local monitoring</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CI/CD pipeline: GitHub Actions</a:t>
            </a:r>
            <a:endParaRPr lang="en-US" sz="3000" dirty="0"/>
          </a:p>
        </p:txBody>
      </p:sp>
      <p:sp>
        <p:nvSpPr>
          <p:cNvPr id="3" name="job Unit tests"/>
          <p:cNvSpPr/>
          <p:nvPr/>
        </p:nvSpPr>
        <p:spPr>
          <a:xfrm>
            <a:off x="457200" y="1188720"/>
            <a:ext cx="841248" cy="73152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4572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Unit tests</a:t>
            </a:r>
            <a:endParaRPr lang="en-US" sz="950" dirty="0"/>
          </a:p>
        </p:txBody>
      </p:sp>
      <p:sp>
        <p:nvSpPr>
          <p:cNvPr id="5" name="job SAST (Bandit)"/>
          <p:cNvSpPr/>
          <p:nvPr/>
        </p:nvSpPr>
        <p:spPr>
          <a:xfrm>
            <a:off x="1371600" y="1188720"/>
            <a:ext cx="841248" cy="731520"/>
          </a:xfrm>
          <a:prstGeom prst="roundRect">
            <a:avLst>
              <a:gd name="adj" fmla="val 10000"/>
            </a:avLst>
          </a:prstGeom>
          <a:solidFill>
            <a:schemeClr val="tx1"/>
          </a:solidFill>
          <a:ln w="12700">
            <a:solidFill>
              <a:schemeClr val="tx1"/>
            </a:solidFill>
            <a:prstDash val="solid"/>
          </a:ln>
        </p:spPr>
      </p:sp>
      <p:sp>
        <p:nvSpPr>
          <p:cNvPr id="6" name="Text 4"/>
          <p:cNvSpPr txBox="1"/>
          <p:nvPr/>
        </p:nvSpPr>
        <p:spPr>
          <a:xfrm>
            <a:off x="13716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SAST (Bandit)</a:t>
            </a:r>
            <a:endParaRPr lang="en-US" sz="950" dirty="0"/>
          </a:p>
        </p:txBody>
      </p:sp>
      <p:sp>
        <p:nvSpPr>
          <p:cNvPr id="7" name="job SCA (pip-audit)"/>
          <p:cNvSpPr/>
          <p:nvPr/>
        </p:nvSpPr>
        <p:spPr>
          <a:xfrm>
            <a:off x="2286000" y="1188720"/>
            <a:ext cx="841248" cy="731520"/>
          </a:xfrm>
          <a:prstGeom prst="roundRect">
            <a:avLst>
              <a:gd name="adj" fmla="val 10000"/>
            </a:avLst>
          </a:prstGeom>
          <a:solidFill>
            <a:schemeClr val="tx1"/>
          </a:solidFill>
          <a:ln w="12700">
            <a:solidFill>
              <a:schemeClr val="tx1"/>
            </a:solidFill>
            <a:prstDash val="solid"/>
          </a:ln>
        </p:spPr>
      </p:sp>
      <p:sp>
        <p:nvSpPr>
          <p:cNvPr id="8" name="Text 6"/>
          <p:cNvSpPr txBox="1"/>
          <p:nvPr/>
        </p:nvSpPr>
        <p:spPr>
          <a:xfrm>
            <a:off x="22860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SCA (pip-audit)</a:t>
            </a:r>
            <a:endParaRPr lang="en-US" sz="950" dirty="0"/>
          </a:p>
        </p:txBody>
      </p:sp>
      <p:sp>
        <p:nvSpPr>
          <p:cNvPr id="9" name="job Secret scan"/>
          <p:cNvSpPr/>
          <p:nvPr/>
        </p:nvSpPr>
        <p:spPr>
          <a:xfrm>
            <a:off x="3200400" y="1188720"/>
            <a:ext cx="841248" cy="731520"/>
          </a:xfrm>
          <a:prstGeom prst="roundRect">
            <a:avLst>
              <a:gd name="adj" fmla="val 10000"/>
            </a:avLst>
          </a:prstGeom>
          <a:solidFill>
            <a:schemeClr val="tx1"/>
          </a:solidFill>
          <a:ln w="12700">
            <a:solidFill>
              <a:schemeClr val="tx1"/>
            </a:solidFill>
            <a:prstDash val="solid"/>
          </a:ln>
        </p:spPr>
      </p:sp>
      <p:sp>
        <p:nvSpPr>
          <p:cNvPr id="10" name="Text 8"/>
          <p:cNvSpPr txBox="1"/>
          <p:nvPr/>
        </p:nvSpPr>
        <p:spPr>
          <a:xfrm>
            <a:off x="32004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Secret scan</a:t>
            </a:r>
            <a:endParaRPr lang="en-US" sz="950" dirty="0"/>
          </a:p>
        </p:txBody>
      </p:sp>
      <p:sp>
        <p:nvSpPr>
          <p:cNvPr id="11" name="job Docker build"/>
          <p:cNvSpPr/>
          <p:nvPr/>
        </p:nvSpPr>
        <p:spPr>
          <a:xfrm>
            <a:off x="4114800" y="1188720"/>
            <a:ext cx="841248" cy="731520"/>
          </a:xfrm>
          <a:prstGeom prst="roundRect">
            <a:avLst>
              <a:gd name="adj" fmla="val 10000"/>
            </a:avLst>
          </a:prstGeom>
          <a:solidFill>
            <a:schemeClr val="tx1"/>
          </a:solidFill>
          <a:ln w="12700">
            <a:solidFill>
              <a:schemeClr val="tx1"/>
            </a:solidFill>
            <a:prstDash val="solid"/>
          </a:ln>
        </p:spPr>
      </p:sp>
      <p:sp>
        <p:nvSpPr>
          <p:cNvPr id="12" name="Text 10"/>
          <p:cNvSpPr txBox="1"/>
          <p:nvPr/>
        </p:nvSpPr>
        <p:spPr>
          <a:xfrm>
            <a:off x="41148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Docker build</a:t>
            </a:r>
            <a:endParaRPr lang="en-US" sz="950" dirty="0"/>
          </a:p>
        </p:txBody>
      </p:sp>
      <p:sp>
        <p:nvSpPr>
          <p:cNvPr id="13" name="job Image scan (Trivy)"/>
          <p:cNvSpPr/>
          <p:nvPr/>
        </p:nvSpPr>
        <p:spPr>
          <a:xfrm>
            <a:off x="5029200" y="1188720"/>
            <a:ext cx="841248" cy="731520"/>
          </a:xfrm>
          <a:prstGeom prst="roundRect">
            <a:avLst>
              <a:gd name="adj" fmla="val 10000"/>
            </a:avLst>
          </a:prstGeom>
          <a:solidFill>
            <a:schemeClr val="tx1"/>
          </a:solidFill>
          <a:ln w="12700">
            <a:solidFill>
              <a:schemeClr val="tx1"/>
            </a:solidFill>
            <a:prstDash val="solid"/>
          </a:ln>
        </p:spPr>
      </p:sp>
      <p:sp>
        <p:nvSpPr>
          <p:cNvPr id="14" name="Text 12"/>
          <p:cNvSpPr txBox="1"/>
          <p:nvPr/>
        </p:nvSpPr>
        <p:spPr>
          <a:xfrm>
            <a:off x="50292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Image scan (Trivy)</a:t>
            </a:r>
            <a:endParaRPr lang="en-US" sz="950" dirty="0"/>
          </a:p>
        </p:txBody>
      </p:sp>
      <p:sp>
        <p:nvSpPr>
          <p:cNvPr id="15" name="job Security gate"/>
          <p:cNvSpPr/>
          <p:nvPr/>
        </p:nvSpPr>
        <p:spPr>
          <a:xfrm>
            <a:off x="5943600" y="1188720"/>
            <a:ext cx="841248" cy="731520"/>
          </a:xfrm>
          <a:prstGeom prst="roundRect">
            <a:avLst>
              <a:gd name="adj" fmla="val 10000"/>
            </a:avLst>
          </a:prstGeom>
          <a:solidFill>
            <a:schemeClr val="accent2"/>
          </a:solidFill>
          <a:ln w="12700">
            <a:solidFill>
              <a:schemeClr val="accent2"/>
            </a:solidFill>
            <a:prstDash val="solid"/>
          </a:ln>
        </p:spPr>
      </p:sp>
      <p:sp>
        <p:nvSpPr>
          <p:cNvPr id="16" name="Text 14"/>
          <p:cNvSpPr txBox="1"/>
          <p:nvPr/>
        </p:nvSpPr>
        <p:spPr>
          <a:xfrm>
            <a:off x="5943600" y="1188720"/>
            <a:ext cx="841248" cy="731520"/>
          </a:xfrm>
          <a:prstGeom prst="rect">
            <a:avLst/>
          </a:prstGeom>
          <a:noFill/>
          <a:ln/>
        </p:spPr>
        <p:txBody>
          <a:bodyPr wrap="square" lIns="0" tIns="0" rIns="0" bIns="0" rtlCol="0" anchor="ctr"/>
          <a:lstStyle/>
          <a:p>
            <a:pPr algn="ctr" indent="0" marL="0">
              <a:buNone/>
            </a:pPr>
            <a:r>
              <a:rPr lang="en-US" sz="950" b="1" dirty="0">
                <a:solidFill>
                  <a:schemeClr val="tx1"/>
                </a:solidFill>
              </a:rPr>
              <a:t>Security gate</a:t>
            </a:r>
            <a:endParaRPr lang="en-US" sz="950" dirty="0"/>
          </a:p>
        </p:txBody>
      </p:sp>
      <p:sp>
        <p:nvSpPr>
          <p:cNvPr id="17" name="job Push to GHCR"/>
          <p:cNvSpPr/>
          <p:nvPr/>
        </p:nvSpPr>
        <p:spPr>
          <a:xfrm>
            <a:off x="6858000" y="1188720"/>
            <a:ext cx="841248" cy="731520"/>
          </a:xfrm>
          <a:prstGeom prst="roundRect">
            <a:avLst>
              <a:gd name="adj" fmla="val 10000"/>
            </a:avLst>
          </a:prstGeom>
          <a:solidFill>
            <a:schemeClr val="accent3"/>
          </a:solidFill>
          <a:ln w="12700">
            <a:solidFill>
              <a:schemeClr val="accent3"/>
            </a:solidFill>
            <a:prstDash val="solid"/>
          </a:ln>
        </p:spPr>
      </p:sp>
      <p:sp>
        <p:nvSpPr>
          <p:cNvPr id="18" name="Text 16"/>
          <p:cNvSpPr txBox="1"/>
          <p:nvPr/>
        </p:nvSpPr>
        <p:spPr>
          <a:xfrm>
            <a:off x="68580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Push to GHCR</a:t>
            </a:r>
            <a:endParaRPr lang="en-US" sz="950" dirty="0"/>
          </a:p>
        </p:txBody>
      </p:sp>
      <p:sp>
        <p:nvSpPr>
          <p:cNvPr id="19" name="job Deploy (kind + Helm)"/>
          <p:cNvSpPr/>
          <p:nvPr/>
        </p:nvSpPr>
        <p:spPr>
          <a:xfrm>
            <a:off x="7772400" y="1188720"/>
            <a:ext cx="841248" cy="731520"/>
          </a:xfrm>
          <a:prstGeom prst="roundRect">
            <a:avLst>
              <a:gd name="adj" fmla="val 10000"/>
            </a:avLst>
          </a:prstGeom>
          <a:solidFill>
            <a:schemeClr val="accent3"/>
          </a:solidFill>
          <a:ln w="12700">
            <a:solidFill>
              <a:schemeClr val="accent3"/>
            </a:solidFill>
            <a:prstDash val="solid"/>
          </a:ln>
        </p:spPr>
      </p:sp>
      <p:sp>
        <p:nvSpPr>
          <p:cNvPr id="20" name="Text 18"/>
          <p:cNvSpPr txBox="1"/>
          <p:nvPr/>
        </p:nvSpPr>
        <p:spPr>
          <a:xfrm>
            <a:off x="7772400" y="1188720"/>
            <a:ext cx="841248" cy="731520"/>
          </a:xfrm>
          <a:prstGeom prst="rect">
            <a:avLst/>
          </a:prstGeom>
          <a:noFill/>
          <a:ln/>
        </p:spPr>
        <p:txBody>
          <a:bodyPr wrap="square" lIns="0" tIns="0" rIns="0" bIns="0" rtlCol="0" anchor="ctr"/>
          <a:lstStyle/>
          <a:p>
            <a:pPr algn="ctr" indent="0" marL="0">
              <a:buNone/>
            </a:pPr>
            <a:r>
              <a:rPr lang="en-US" sz="950" b="1" dirty="0">
                <a:solidFill>
                  <a:schemeClr val="bg1"/>
                </a:solidFill>
              </a:rPr>
              <a:t>Deploy (kind + Helm)</a:t>
            </a:r>
            <a:endParaRPr lang="en-US" sz="950" dirty="0"/>
          </a:p>
        </p:txBody>
      </p:sp>
      <p:sp>
        <p:nvSpPr>
          <p:cNvPr id="21" name="Text 19"/>
          <p:cNvSpPr txBox="1"/>
          <p:nvPr/>
        </p:nvSpPr>
        <p:spPr>
          <a:xfrm>
            <a:off x="457200" y="2011680"/>
            <a:ext cx="8229600" cy="502920"/>
          </a:xfrm>
          <a:prstGeom prst="rect">
            <a:avLst/>
          </a:prstGeom>
          <a:noFill/>
          <a:ln/>
        </p:spPr>
        <p:txBody>
          <a:bodyPr wrap="square" lIns="0" tIns="0" rIns="0" bIns="0" rtlCol="0" anchor="ctr"/>
          <a:lstStyle/>
          <a:p>
            <a:pPr indent="0" marL="0">
              <a:buNone/>
            </a:pPr>
            <a:r>
              <a:rPr lang="en-US" sz="1150" dirty="0">
                <a:solidFill>
                  <a:schemeClr val="tx2"/>
                </a:solidFill>
              </a:rPr>
              <a:t>Each job runs on its own ubuntu-latest runner; needs: chains them so a failure stops the pipeline. Push and deploy run only on main. The image is tagged with the Git commit SHA and handed between jobs as an artifact.</a:t>
            </a:r>
            <a:endParaRPr lang="en-US" sz="1150" dirty="0"/>
          </a:p>
        </p:txBody>
      </p:sp>
      <p:pic>
        <p:nvPicPr>
          <p:cNvPr id="22" name="act pipeline run" descr="/Users/vivek/Desktop/devops_final_assignment/session-21-final-devops-project/final-devops-project/screenshots/10-act-pipeline-run-01.png">    </p:cNvPr>
          <p:cNvPicPr>
            <a:picLocks noChangeAspect="1"/>
          </p:cNvPicPr>
          <p:nvPr/>
        </p:nvPicPr>
        <p:blipFill>
          <a:blip r:embed="rId1"/>
          <a:stretch>
            <a:fillRect/>
          </a:stretch>
        </p:blipFill>
        <p:spPr>
          <a:xfrm>
            <a:off x="457200" y="2606040"/>
            <a:ext cx="5120640" cy="2011680"/>
          </a:xfrm>
          <a:prstGeom prst="rect">
            <a:avLst/>
          </a:prstGeom>
        </p:spPr>
      </p:pic>
      <p:sp>
        <p:nvSpPr>
          <p:cNvPr id="23" name="Text 20"/>
          <p:cNvSpPr txBox="1"/>
          <p:nvPr/>
        </p:nvSpPr>
        <p:spPr>
          <a:xfrm>
            <a:off x="457200" y="4572000"/>
            <a:ext cx="5120640" cy="228600"/>
          </a:xfrm>
          <a:prstGeom prst="rect">
            <a:avLst/>
          </a:prstGeom>
          <a:noFill/>
          <a:ln/>
        </p:spPr>
        <p:txBody>
          <a:bodyPr wrap="square" lIns="0" tIns="0" rIns="0" bIns="0" rtlCol="0" anchor="ctr"/>
          <a:lstStyle/>
          <a:p>
            <a:pPr indent="0" marL="0">
              <a:buNone/>
            </a:pPr>
            <a:r>
              <a:rPr lang="en-US" sz="950" dirty="0">
                <a:solidFill>
                  <a:schemeClr val="tx2"/>
                </a:solidFill>
              </a:rPr>
              <a:t>Pipeline executed locally with act (all 7 CI jobs green)</a:t>
            </a:r>
            <a:endParaRPr lang="en-US" sz="950" dirty="0"/>
          </a:p>
        </p:txBody>
      </p:sp>
      <p:sp>
        <p:nvSpPr>
          <p:cNvPr id="24" name="ci facts"/>
          <p:cNvSpPr/>
          <p:nvPr/>
        </p:nvSpPr>
        <p:spPr>
          <a:xfrm>
            <a:off x="5852160" y="2606040"/>
            <a:ext cx="2834640" cy="1965960"/>
          </a:xfrm>
          <a:prstGeom prst="roundRect">
            <a:avLst>
              <a:gd name="adj" fmla="val 3721"/>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5" name="Text 22"/>
          <p:cNvSpPr txBox="1"/>
          <p:nvPr/>
        </p:nvSpPr>
        <p:spPr>
          <a:xfrm>
            <a:off x="5989320" y="2697480"/>
            <a:ext cx="2606040" cy="182880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chemeClr val="tx2"/>
                </a:solidFill>
              </a:rPr>
              <a:t>Artifacts: test results, coverage, bandit report, image.tar</a:t>
            </a:r>
            <a:endParaRPr lang="en-US" sz="1050" dirty="0"/>
          </a:p>
          <a:p>
            <a:pPr marL="342900" indent="-342900">
              <a:spcAft>
                <a:spcPts val="500"/>
              </a:spcAft>
              <a:buSzPct val="100000"/>
              <a:buChar char="•"/>
            </a:pPr>
            <a:r>
              <a:rPr lang="en-US" sz="1050" dirty="0">
                <a:solidFill>
                  <a:schemeClr val="tx2"/>
                </a:solidFill>
              </a:rPr>
              <a:t>Secrets: GITHUB_TOKEN for GHCR, no credentials in the repo</a:t>
            </a:r>
            <a:endParaRPr lang="en-US" sz="1050" dirty="0"/>
          </a:p>
          <a:p>
            <a:pPr marL="342900" indent="-342900">
              <a:spcAft>
                <a:spcPts val="500"/>
              </a:spcAft>
              <a:buSzPct val="100000"/>
              <a:buChar char="•"/>
            </a:pPr>
            <a:r>
              <a:rPr lang="en-US" sz="1050" dirty="0">
                <a:solidFill>
                  <a:schemeClr val="tx2"/>
                </a:solidFill>
              </a:rPr>
              <a:t>Deploy job: kind cluster on the runner, kind load, helm upgrade --install, curl smoke test</a:t>
            </a:r>
            <a:endParaRPr lang="en-US" sz="1050" dirty="0"/>
          </a:p>
          <a:p>
            <a:pPr marL="342900" indent="-342900">
              <a:spcAft>
                <a:spcPts val="500"/>
              </a:spcAft>
              <a:buSzPct val="100000"/>
              <a:buChar char="•"/>
            </a:pPr>
            <a:r>
              <a:rPr lang="en-US" sz="1050" dirty="0">
                <a:solidFill>
                  <a:schemeClr val="tx2"/>
                </a:solidFill>
              </a:rPr>
              <a:t>act fallbacks replace GitHub-only actions locally</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DevSecOps: gates that actually blocked</a:t>
            </a:r>
            <a:endParaRPr lang="en-US" sz="3000" dirty="0"/>
          </a:p>
        </p:txBody>
      </p:sp>
      <p:graphicFrame>
        <p:nvGraphicFramePr>
          <p:cNvPr id="9" name="security control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011680"/>
                <a:gridCol w="475488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caught / result</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r>
              <a:tr h="411480">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SAST</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Bandit, CodeQL</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B104 bind-all-interfaces reviewed and suppressed with a justification; 0 open findings</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11480">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SCA</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pip-audit --strict</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Flask 3.1.1 had PYSEC-2026-2151; upgraded to 3.1.3, now 0 known CVEs</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11480">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Secret scanning</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gitleaks</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Repository clean; a planted AWS key and GitHub token were detected in a test</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11480">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Image scanning</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Trivy (HIGH/CRITICAL, ignore-unfixed)</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Debian base: 44 HIGH; Alpine base: 0 HIGH / 0 CRITICAL</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11480">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Security gate</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security-gate job (if: always())</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100" dirty="0">
                          <a:solidFill>
                            <a:srgbClr val="0B1F33"/>
                          </a:solidFill>
                          <a:latin typeface="Calibri" pitchFamily="34" charset="0"/>
                          <a:ea typeface="Calibri" pitchFamily="34" charset="-122"/>
                          <a:cs typeface="Calibri" pitchFamily="34" charset="-120"/>
                        </a:rPr>
                        <a:t>Fails the run unless all four scans succeeded; push and deploy depend on it</a:t>
                      </a:r>
                      <a:endParaRPr lang="en-US" sz="110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bl>
          </a:graphicData>
        </a:graphic>
      </p:graphicFrame>
      <p:sp>
        <p:nvSpPr>
          <p:cNvPr id="4" name="shield circle"/>
          <p:cNvSpPr/>
          <p:nvPr/>
        </p:nvSpPr>
        <p:spPr>
          <a:xfrm>
            <a:off x="457200" y="3931920"/>
            <a:ext cx="548640" cy="548640"/>
          </a:xfrm>
          <a:prstGeom prst="ellipse">
            <a:avLst/>
          </a:prstGeom>
          <a:solidFill>
            <a:srgbClr val="E06C75"/>
          </a:solidFill>
          <a:ln w="12700">
            <a:solidFill>
              <a:srgbClr val="E06C75"/>
            </a:solidFill>
            <a:prstDash val="solid"/>
          </a:ln>
        </p:spPr>
      </p:sp>
      <p:pic>
        <p:nvPicPr>
          <p:cNvPr id="5" name="shield icon" descr="preencoded.png">    </p:cNvPr>
          <p:cNvPicPr>
            <a:picLocks noChangeAspect="1"/>
          </p:cNvPicPr>
          <p:nvPr/>
        </p:nvPicPr>
        <p:blipFill>
          <a:blip r:embed="rId1"/>
          <a:stretch>
            <a:fillRect/>
          </a:stretch>
        </p:blipFill>
        <p:spPr>
          <a:xfrm>
            <a:off x="594360" y="4069080"/>
            <a:ext cx="274320" cy="274320"/>
          </a:xfrm>
          <a:prstGeom prst="rect">
            <a:avLst/>
          </a:prstGeom>
        </p:spPr>
      </p:pic>
      <p:sp>
        <p:nvSpPr>
          <p:cNvPr id="6" name="Text 2"/>
          <p:cNvSpPr txBox="1"/>
          <p:nvPr/>
        </p:nvSpPr>
        <p:spPr>
          <a:xfrm>
            <a:off x="1143000" y="3931920"/>
            <a:ext cx="7498080" cy="640080"/>
          </a:xfrm>
          <a:prstGeom prst="rect">
            <a:avLst/>
          </a:prstGeom>
          <a:noFill/>
          <a:ln/>
        </p:spPr>
        <p:txBody>
          <a:bodyPr wrap="square" lIns="0" tIns="0" rIns="0" bIns="0" rtlCol="0" anchor="ctr"/>
          <a:lstStyle/>
          <a:p>
            <a:pPr indent="0" marL="0">
              <a:buNone/>
            </a:pPr>
            <a:r>
              <a:rPr lang="en-US" sz="1150" dirty="0">
                <a:solidFill>
                  <a:schemeClr val="tx2"/>
                </a:solidFill>
              </a:rPr>
              <a:t>Fixing real findings was part of the work: a dependency CVE, base-image CVEs and a hardening side effect (read-only root filesystem broke gunicorn until /tmp got an emptyDir).</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Infrastructure as Code: Terraform on AWS</a:t>
            </a:r>
            <a:endParaRPr lang="en-US" sz="3000" dirty="0"/>
          </a:p>
        </p:txBody>
      </p:sp>
      <p:pic>
        <p:nvPicPr>
          <p:cNvPr id="3" name="aws architecture" descr="/Users/vivek/Desktop/devops_final_assignment/session-19-cloud-terraform/screenshots/architecture-diagram.png">    </p:cNvPr>
          <p:cNvPicPr>
            <a:picLocks noChangeAspect="1"/>
          </p:cNvPicPr>
          <p:nvPr/>
        </p:nvPicPr>
        <p:blipFill>
          <a:blip r:embed="rId1"/>
          <a:stretch>
            <a:fillRect/>
          </a:stretch>
        </p:blipFill>
        <p:spPr>
          <a:xfrm>
            <a:off x="457200" y="1143000"/>
            <a:ext cx="5120640" cy="2880360"/>
          </a:xfrm>
          <a:prstGeom prst="rect">
            <a:avLst/>
          </a:prstGeom>
        </p:spPr>
      </p:pic>
      <p:sp>
        <p:nvSpPr>
          <p:cNvPr id="4" name="Text 1"/>
          <p:cNvSpPr txBox="1"/>
          <p:nvPr/>
        </p:nvSpPr>
        <p:spPr>
          <a:xfrm>
            <a:off x="457200" y="4069080"/>
            <a:ext cx="5120640" cy="502920"/>
          </a:xfrm>
          <a:prstGeom prst="rect">
            <a:avLst/>
          </a:prstGeom>
          <a:noFill/>
          <a:ln/>
        </p:spPr>
        <p:txBody>
          <a:bodyPr wrap="square" lIns="0" tIns="0" rIns="0" bIns="0" rtlCol="0" anchor="ctr"/>
          <a:lstStyle/>
          <a:p>
            <a:pPr indent="0" marL="0">
              <a:buNone/>
            </a:pPr>
            <a:r>
              <a:rPr lang="en-US" sz="1000" dirty="0">
                <a:solidFill>
                  <a:schemeClr val="tx2"/>
                </a:solidFill>
              </a:rPr>
              <a:t>VPC 10.30.0.0/16, public subnet, Internet Gateway, route table, security group (80/22), EC2 t3.micro with Docker user_data, private S3 bucket</a:t>
            </a:r>
            <a:endParaRPr lang="en-US" sz="1000" dirty="0"/>
          </a:p>
        </p:txBody>
      </p:sp>
      <p:sp>
        <p:nvSpPr>
          <p:cNvPr id="5" name="tf 0"/>
          <p:cNvSpPr/>
          <p:nvPr/>
        </p:nvSpPr>
        <p:spPr>
          <a:xfrm>
            <a:off x="5852160" y="114300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6" name="Text 3"/>
          <p:cNvSpPr txBox="1"/>
          <p:nvPr/>
        </p:nvSpPr>
        <p:spPr>
          <a:xfrm>
            <a:off x="5989320" y="1234440"/>
            <a:ext cx="2560320" cy="411480"/>
          </a:xfrm>
          <a:prstGeom prst="rect">
            <a:avLst/>
          </a:prstGeom>
          <a:noFill/>
          <a:ln/>
        </p:spPr>
        <p:txBody>
          <a:bodyPr wrap="square" lIns="0" tIns="0" rIns="0" bIns="0" rtlCol="0" anchor="ctr"/>
          <a:lstStyle/>
          <a:p>
            <a:pPr indent="0" marL="0">
              <a:buNone/>
            </a:pPr>
            <a:r>
              <a:rPr lang="en-US" sz="2800" b="1" dirty="0">
                <a:solidFill>
                  <a:schemeClr val="accent3"/>
                </a:solidFill>
              </a:rPr>
              <a:t>12</a:t>
            </a:r>
            <a:endParaRPr lang="en-US" sz="2800" dirty="0"/>
          </a:p>
        </p:txBody>
      </p:sp>
      <p:sp>
        <p:nvSpPr>
          <p:cNvPr id="7" name="Text 4"/>
          <p:cNvSpPr txBox="1"/>
          <p:nvPr/>
        </p:nvSpPr>
        <p:spPr>
          <a:xfrm>
            <a:off x="5989320" y="1645920"/>
            <a:ext cx="2560320" cy="411480"/>
          </a:xfrm>
          <a:prstGeom prst="rect">
            <a:avLst/>
          </a:prstGeom>
          <a:noFill/>
          <a:ln/>
        </p:spPr>
        <p:txBody>
          <a:bodyPr wrap="square" lIns="0" tIns="0" rIns="0" bIns="0" rtlCol="0" anchor="ctr"/>
          <a:lstStyle/>
          <a:p>
            <a:pPr indent="0" marL="0">
              <a:buNone/>
            </a:pPr>
            <a:r>
              <a:rPr lang="en-US" sz="1050" dirty="0">
                <a:solidFill>
                  <a:schemeClr val="tx2"/>
                </a:solidFill>
              </a:rPr>
              <a:t>resources created by terraform apply, then destroyed</a:t>
            </a:r>
            <a:endParaRPr lang="en-US" sz="1050" dirty="0"/>
          </a:p>
        </p:txBody>
      </p:sp>
      <p:sp>
        <p:nvSpPr>
          <p:cNvPr id="8" name="tf 1"/>
          <p:cNvSpPr/>
          <p:nvPr/>
        </p:nvSpPr>
        <p:spPr>
          <a:xfrm>
            <a:off x="5852160" y="224028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9" name="Text 6"/>
          <p:cNvSpPr txBox="1"/>
          <p:nvPr/>
        </p:nvSpPr>
        <p:spPr>
          <a:xfrm>
            <a:off x="5989320" y="2331720"/>
            <a:ext cx="2560320" cy="411480"/>
          </a:xfrm>
          <a:prstGeom prst="rect">
            <a:avLst/>
          </a:prstGeom>
          <a:noFill/>
          <a:ln/>
        </p:spPr>
        <p:txBody>
          <a:bodyPr wrap="square" lIns="0" tIns="0" rIns="0" bIns="0" rtlCol="0" anchor="ctr"/>
          <a:lstStyle/>
          <a:p>
            <a:pPr indent="0" marL="0">
              <a:buNone/>
            </a:pPr>
            <a:r>
              <a:rPr lang="en-US" sz="1300" b="1" dirty="0">
                <a:solidFill>
                  <a:schemeClr val="accent3"/>
                </a:solidFill>
              </a:rPr>
              <a:t>init &gt; fmt &gt; validate &gt; plan &gt; apply &gt; destroy</a:t>
            </a:r>
            <a:endParaRPr lang="en-US" sz="1300" dirty="0"/>
          </a:p>
        </p:txBody>
      </p:sp>
      <p:sp>
        <p:nvSpPr>
          <p:cNvPr id="10" name="Text 7"/>
          <p:cNvSpPr txBox="1"/>
          <p:nvPr/>
        </p:nvSpPr>
        <p:spPr>
          <a:xfrm>
            <a:off x="5989320" y="2743200"/>
            <a:ext cx="2560320" cy="411480"/>
          </a:xfrm>
          <a:prstGeom prst="rect">
            <a:avLst/>
          </a:prstGeom>
          <a:noFill/>
          <a:ln/>
        </p:spPr>
        <p:txBody>
          <a:bodyPr wrap="square" lIns="0" tIns="0" rIns="0" bIns="0" rtlCol="0" anchor="ctr"/>
          <a:lstStyle/>
          <a:p>
            <a:pPr indent="0" marL="0">
              <a:buNone/>
            </a:pPr>
            <a:r>
              <a:rPr lang="en-US" sz="1050" dirty="0">
                <a:solidFill>
                  <a:schemeClr val="tx2"/>
                </a:solidFill>
              </a:rPr>
              <a:t>full workflow executed against my AWS account</a:t>
            </a:r>
            <a:endParaRPr lang="en-US" sz="1050" dirty="0"/>
          </a:p>
        </p:txBody>
      </p:sp>
      <p:sp>
        <p:nvSpPr>
          <p:cNvPr id="11" name="tf 2"/>
          <p:cNvSpPr/>
          <p:nvPr/>
        </p:nvSpPr>
        <p:spPr>
          <a:xfrm>
            <a:off x="5852160" y="333756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2" name="Text 9"/>
          <p:cNvSpPr txBox="1"/>
          <p:nvPr/>
        </p:nvSpPr>
        <p:spPr>
          <a:xfrm>
            <a:off x="5989320" y="3429000"/>
            <a:ext cx="2560320" cy="411480"/>
          </a:xfrm>
          <a:prstGeom prst="rect">
            <a:avLst/>
          </a:prstGeom>
          <a:noFill/>
          <a:ln/>
        </p:spPr>
        <p:txBody>
          <a:bodyPr wrap="square" lIns="0" tIns="0" rIns="0" bIns="0" rtlCol="0" anchor="ctr"/>
          <a:lstStyle/>
          <a:p>
            <a:pPr indent="0" marL="0">
              <a:buNone/>
            </a:pPr>
            <a:r>
              <a:rPr lang="en-US" sz="1300" b="1" dirty="0">
                <a:solidFill>
                  <a:schemeClr val="accent3"/>
                </a:solidFill>
              </a:rPr>
              <a:t>SSM lookup</a:t>
            </a:r>
            <a:endParaRPr lang="en-US" sz="1300" dirty="0"/>
          </a:p>
        </p:txBody>
      </p:sp>
      <p:sp>
        <p:nvSpPr>
          <p:cNvPr id="13" name="Text 10"/>
          <p:cNvSpPr txBox="1"/>
          <p:nvPr/>
        </p:nvSpPr>
        <p:spPr>
          <a:xfrm>
            <a:off x="5989320" y="3840480"/>
            <a:ext cx="2560320" cy="411480"/>
          </a:xfrm>
          <a:prstGeom prst="rect">
            <a:avLst/>
          </a:prstGeom>
          <a:noFill/>
          <a:ln/>
        </p:spPr>
        <p:txBody>
          <a:bodyPr wrap="square" lIns="0" tIns="0" rIns="0" bIns="0" rtlCol="0" anchor="ctr"/>
          <a:lstStyle/>
          <a:p>
            <a:pPr indent="0" marL="0">
              <a:buNone/>
            </a:pPr>
            <a:r>
              <a:rPr lang="en-US" sz="1050" dirty="0">
                <a:solidFill>
                  <a:schemeClr val="tx2"/>
                </a:solidFill>
              </a:rPr>
              <a:t>latest Amazon Linux 2023 AMI, no hard-coded IDs</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Kubernetes deployment with Helm</a:t>
            </a:r>
            <a:endParaRPr lang="en-US" sz="3000" dirty="0"/>
          </a:p>
        </p:txBody>
      </p:sp>
      <p:sp>
        <p:nvSpPr>
          <p:cNvPr id="3" name="k8s card Deployment"/>
          <p:cNvSpPr/>
          <p:nvPr/>
        </p:nvSpPr>
        <p:spPr>
          <a:xfrm>
            <a:off x="457200" y="1188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4" name="Deployment circle"/>
          <p:cNvSpPr/>
          <p:nvPr/>
        </p:nvSpPr>
        <p:spPr>
          <a:xfrm>
            <a:off x="566928" y="1298448"/>
            <a:ext cx="384048" cy="384048"/>
          </a:xfrm>
          <a:prstGeom prst="ellipse">
            <a:avLst/>
          </a:prstGeom>
          <a:solidFill>
            <a:srgbClr val="02C39A"/>
          </a:solidFill>
          <a:ln w="12700">
            <a:solidFill>
              <a:srgbClr val="02C39A"/>
            </a:solidFill>
            <a:prstDash val="solid"/>
          </a:ln>
        </p:spPr>
      </p:sp>
      <p:pic>
        <p:nvPicPr>
          <p:cNvPr id="5" name="Deployment icon" descr="preencoded.png">    </p:cNvPr>
          <p:cNvPicPr>
            <a:picLocks noChangeAspect="1"/>
          </p:cNvPicPr>
          <p:nvPr/>
        </p:nvPicPr>
        <p:blipFill>
          <a:blip r:embed="rId1"/>
          <a:stretch>
            <a:fillRect/>
          </a:stretch>
        </p:blipFill>
        <p:spPr>
          <a:xfrm>
            <a:off x="662940" y="1394460"/>
            <a:ext cx="192024" cy="192024"/>
          </a:xfrm>
          <a:prstGeom prst="rect">
            <a:avLst/>
          </a:prstGeom>
        </p:spPr>
      </p:pic>
      <p:sp>
        <p:nvSpPr>
          <p:cNvPr id="6" name="Text 3"/>
          <p:cNvSpPr txBox="1"/>
          <p:nvPr/>
        </p:nvSpPr>
        <p:spPr>
          <a:xfrm>
            <a:off x="1051560" y="1325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Deployment</a:t>
            </a:r>
            <a:endParaRPr lang="en-US" sz="1250" dirty="0"/>
          </a:p>
        </p:txBody>
      </p:sp>
      <p:sp>
        <p:nvSpPr>
          <p:cNvPr id="7" name="Text 4"/>
          <p:cNvSpPr txBox="1"/>
          <p:nvPr/>
        </p:nvSpPr>
        <p:spPr>
          <a:xfrm>
            <a:off x="594360" y="1645920"/>
            <a:ext cx="2194560" cy="548640"/>
          </a:xfrm>
          <a:prstGeom prst="rect">
            <a:avLst/>
          </a:prstGeom>
          <a:noFill/>
          <a:ln/>
        </p:spPr>
        <p:txBody>
          <a:bodyPr wrap="square" lIns="0" tIns="0" rIns="0" bIns="0" rtlCol="0" anchor="ctr"/>
          <a:lstStyle/>
          <a:p>
            <a:pPr indent="0" marL="0">
              <a:buNone/>
            </a:pPr>
            <a:r>
              <a:rPr lang="en-US" sz="950" dirty="0">
                <a:solidFill>
                  <a:schemeClr val="tx2"/>
                </a:solidFill>
              </a:rPr>
              <a:t>2 replicas, startup / readiness / liveness probes, resource requests and limits, runAsNonRoot</a:t>
            </a:r>
            <a:endParaRPr lang="en-US" sz="950" dirty="0"/>
          </a:p>
        </p:txBody>
      </p:sp>
      <p:sp>
        <p:nvSpPr>
          <p:cNvPr id="8" name="k8s card Service + Ingress"/>
          <p:cNvSpPr/>
          <p:nvPr/>
        </p:nvSpPr>
        <p:spPr>
          <a:xfrm>
            <a:off x="3017520" y="1188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9" name="Service + Ingress circle"/>
          <p:cNvSpPr/>
          <p:nvPr/>
        </p:nvSpPr>
        <p:spPr>
          <a:xfrm>
            <a:off x="3127248" y="1298448"/>
            <a:ext cx="384048" cy="384048"/>
          </a:xfrm>
          <a:prstGeom prst="ellipse">
            <a:avLst/>
          </a:prstGeom>
          <a:solidFill>
            <a:srgbClr val="02C39A"/>
          </a:solidFill>
          <a:ln w="12700">
            <a:solidFill>
              <a:srgbClr val="02C39A"/>
            </a:solidFill>
            <a:prstDash val="solid"/>
          </a:ln>
        </p:spPr>
      </p:sp>
      <p:pic>
        <p:nvPicPr>
          <p:cNvPr id="10" name="Service + Ingress icon" descr="preencoded.png">    </p:cNvPr>
          <p:cNvPicPr>
            <a:picLocks noChangeAspect="1"/>
          </p:cNvPicPr>
          <p:nvPr/>
        </p:nvPicPr>
        <p:blipFill>
          <a:blip r:embed="rId2"/>
          <a:stretch>
            <a:fillRect/>
          </a:stretch>
        </p:blipFill>
        <p:spPr>
          <a:xfrm>
            <a:off x="3223260" y="1394460"/>
            <a:ext cx="192024" cy="192024"/>
          </a:xfrm>
          <a:prstGeom prst="rect">
            <a:avLst/>
          </a:prstGeom>
        </p:spPr>
      </p:pic>
      <p:sp>
        <p:nvSpPr>
          <p:cNvPr id="11" name="Text 7"/>
          <p:cNvSpPr txBox="1"/>
          <p:nvPr/>
        </p:nvSpPr>
        <p:spPr>
          <a:xfrm>
            <a:off x="3611880" y="1325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Service + Ingress</a:t>
            </a:r>
            <a:endParaRPr lang="en-US" sz="1250" dirty="0"/>
          </a:p>
        </p:txBody>
      </p:sp>
      <p:sp>
        <p:nvSpPr>
          <p:cNvPr id="12" name="Text 8"/>
          <p:cNvSpPr txBox="1"/>
          <p:nvPr/>
        </p:nvSpPr>
        <p:spPr>
          <a:xfrm>
            <a:off x="3154680" y="1645920"/>
            <a:ext cx="2194560" cy="548640"/>
          </a:xfrm>
          <a:prstGeom prst="rect">
            <a:avLst/>
          </a:prstGeom>
          <a:noFill/>
          <a:ln/>
        </p:spPr>
        <p:txBody>
          <a:bodyPr wrap="square" lIns="0" tIns="0" rIns="0" bIns="0" rtlCol="0" anchor="ctr"/>
          <a:lstStyle/>
          <a:p>
            <a:pPr indent="0" marL="0">
              <a:buNone/>
            </a:pPr>
            <a:r>
              <a:rPr lang="en-US" sz="950" dirty="0">
                <a:solidFill>
                  <a:schemeClr val="tx2"/>
                </a:solidFill>
              </a:rPr>
              <a:t>ClusterIP behind nginx ingress at taskboard.local; verified with curl through the ingress</a:t>
            </a:r>
            <a:endParaRPr lang="en-US" sz="950" dirty="0"/>
          </a:p>
        </p:txBody>
      </p:sp>
      <p:sp>
        <p:nvSpPr>
          <p:cNvPr id="13" name="k8s card ConfigMap + Secret"/>
          <p:cNvSpPr/>
          <p:nvPr/>
        </p:nvSpPr>
        <p:spPr>
          <a:xfrm>
            <a:off x="457200" y="2331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4" name="ConfigMap + Secret circle"/>
          <p:cNvSpPr/>
          <p:nvPr/>
        </p:nvSpPr>
        <p:spPr>
          <a:xfrm>
            <a:off x="566928" y="2441448"/>
            <a:ext cx="384048" cy="384048"/>
          </a:xfrm>
          <a:prstGeom prst="ellipse">
            <a:avLst/>
          </a:prstGeom>
          <a:solidFill>
            <a:srgbClr val="02C39A"/>
          </a:solidFill>
          <a:ln w="12700">
            <a:solidFill>
              <a:srgbClr val="02C39A"/>
            </a:solidFill>
            <a:prstDash val="solid"/>
          </a:ln>
        </p:spPr>
      </p:sp>
      <p:pic>
        <p:nvPicPr>
          <p:cNvPr id="15" name="ConfigMap + Secret icon" descr="preencoded.png">    </p:cNvPr>
          <p:cNvPicPr>
            <a:picLocks noChangeAspect="1"/>
          </p:cNvPicPr>
          <p:nvPr/>
        </p:nvPicPr>
        <p:blipFill>
          <a:blip r:embed="rId3"/>
          <a:stretch>
            <a:fillRect/>
          </a:stretch>
        </p:blipFill>
        <p:spPr>
          <a:xfrm>
            <a:off x="662940" y="2537460"/>
            <a:ext cx="192024" cy="192024"/>
          </a:xfrm>
          <a:prstGeom prst="rect">
            <a:avLst/>
          </a:prstGeom>
        </p:spPr>
      </p:pic>
      <p:sp>
        <p:nvSpPr>
          <p:cNvPr id="16" name="Text 11"/>
          <p:cNvSpPr txBox="1"/>
          <p:nvPr/>
        </p:nvSpPr>
        <p:spPr>
          <a:xfrm>
            <a:off x="1051560" y="2468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ConfigMap + Secret</a:t>
            </a:r>
            <a:endParaRPr lang="en-US" sz="1250" dirty="0"/>
          </a:p>
        </p:txBody>
      </p:sp>
      <p:sp>
        <p:nvSpPr>
          <p:cNvPr id="17" name="Text 12"/>
          <p:cNvSpPr txBox="1"/>
          <p:nvPr/>
        </p:nvSpPr>
        <p:spPr>
          <a:xfrm>
            <a:off x="594360" y="2788920"/>
            <a:ext cx="2194560" cy="548640"/>
          </a:xfrm>
          <a:prstGeom prst="rect">
            <a:avLst/>
          </a:prstGeom>
          <a:noFill/>
          <a:ln/>
        </p:spPr>
        <p:txBody>
          <a:bodyPr wrap="square" lIns="0" tIns="0" rIns="0" bIns="0" rtlCol="0" anchor="ctr"/>
          <a:lstStyle/>
          <a:p>
            <a:pPr indent="0" marL="0">
              <a:buNone/>
            </a:pPr>
            <a:r>
              <a:rPr lang="en-US" sz="950" dirty="0">
                <a:solidFill>
                  <a:schemeClr val="tx2"/>
                </a:solidFill>
              </a:rPr>
              <a:t>APP_ENV, LOG_LEVEL, FEATURE_FLAGS and DB_PASSWORD injected and shown by /api/config</a:t>
            </a:r>
            <a:endParaRPr lang="en-US" sz="950" dirty="0"/>
          </a:p>
        </p:txBody>
      </p:sp>
      <p:sp>
        <p:nvSpPr>
          <p:cNvPr id="18" name="k8s card PVC storage"/>
          <p:cNvSpPr/>
          <p:nvPr/>
        </p:nvSpPr>
        <p:spPr>
          <a:xfrm>
            <a:off x="3017520" y="2331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9" name="PVC storage circle"/>
          <p:cNvSpPr/>
          <p:nvPr/>
        </p:nvSpPr>
        <p:spPr>
          <a:xfrm>
            <a:off x="3127248" y="2441448"/>
            <a:ext cx="384048" cy="384048"/>
          </a:xfrm>
          <a:prstGeom prst="ellipse">
            <a:avLst/>
          </a:prstGeom>
          <a:solidFill>
            <a:srgbClr val="02C39A"/>
          </a:solidFill>
          <a:ln w="12700">
            <a:solidFill>
              <a:srgbClr val="02C39A"/>
            </a:solidFill>
            <a:prstDash val="solid"/>
          </a:ln>
        </p:spPr>
      </p:sp>
      <p:pic>
        <p:nvPicPr>
          <p:cNvPr id="20" name="PVC storage icon" descr="preencoded.png">    </p:cNvPr>
          <p:cNvPicPr>
            <a:picLocks noChangeAspect="1"/>
          </p:cNvPicPr>
          <p:nvPr/>
        </p:nvPicPr>
        <p:blipFill>
          <a:blip r:embed="rId4"/>
          <a:stretch>
            <a:fillRect/>
          </a:stretch>
        </p:blipFill>
        <p:spPr>
          <a:xfrm>
            <a:off x="3223260" y="2537460"/>
            <a:ext cx="192024" cy="192024"/>
          </a:xfrm>
          <a:prstGeom prst="rect">
            <a:avLst/>
          </a:prstGeom>
        </p:spPr>
      </p:pic>
      <p:sp>
        <p:nvSpPr>
          <p:cNvPr id="21" name="Text 15"/>
          <p:cNvSpPr txBox="1"/>
          <p:nvPr/>
        </p:nvSpPr>
        <p:spPr>
          <a:xfrm>
            <a:off x="3611880" y="2468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PVC storage</a:t>
            </a:r>
            <a:endParaRPr lang="en-US" sz="1250" dirty="0"/>
          </a:p>
        </p:txBody>
      </p:sp>
      <p:sp>
        <p:nvSpPr>
          <p:cNvPr id="22" name="Text 16"/>
          <p:cNvSpPr txBox="1"/>
          <p:nvPr/>
        </p:nvSpPr>
        <p:spPr>
          <a:xfrm>
            <a:off x="3154680" y="2788920"/>
            <a:ext cx="2194560" cy="548640"/>
          </a:xfrm>
          <a:prstGeom prst="rect">
            <a:avLst/>
          </a:prstGeom>
          <a:noFill/>
          <a:ln/>
        </p:spPr>
        <p:txBody>
          <a:bodyPr wrap="square" lIns="0" tIns="0" rIns="0" bIns="0" rtlCol="0" anchor="ctr"/>
          <a:lstStyle/>
          <a:p>
            <a:pPr indent="0" marL="0">
              <a:buNone/>
            </a:pPr>
            <a:r>
              <a:rPr lang="en-US" sz="950" dirty="0">
                <a:solidFill>
                  <a:schemeClr val="tx2"/>
                </a:solidFill>
              </a:rPr>
              <a:t>1Gi volume for the SQLite file; tasks survived a Pod deletion</a:t>
            </a:r>
            <a:endParaRPr lang="en-US" sz="950" dirty="0"/>
          </a:p>
        </p:txBody>
      </p:sp>
      <p:sp>
        <p:nvSpPr>
          <p:cNvPr id="23" name="k8s card HPA"/>
          <p:cNvSpPr/>
          <p:nvPr/>
        </p:nvSpPr>
        <p:spPr>
          <a:xfrm>
            <a:off x="457200" y="3474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4" name="HPA circle"/>
          <p:cNvSpPr/>
          <p:nvPr/>
        </p:nvSpPr>
        <p:spPr>
          <a:xfrm>
            <a:off x="566928" y="3584448"/>
            <a:ext cx="384048" cy="384048"/>
          </a:xfrm>
          <a:prstGeom prst="ellipse">
            <a:avLst/>
          </a:prstGeom>
          <a:solidFill>
            <a:srgbClr val="02C39A"/>
          </a:solidFill>
          <a:ln w="12700">
            <a:solidFill>
              <a:srgbClr val="02C39A"/>
            </a:solidFill>
            <a:prstDash val="solid"/>
          </a:ln>
        </p:spPr>
      </p:sp>
      <p:pic>
        <p:nvPicPr>
          <p:cNvPr id="25" name="HPA icon" descr="preencoded.png">    </p:cNvPr>
          <p:cNvPicPr>
            <a:picLocks noChangeAspect="1"/>
          </p:cNvPicPr>
          <p:nvPr/>
        </p:nvPicPr>
        <p:blipFill>
          <a:blip r:embed="rId5"/>
          <a:stretch>
            <a:fillRect/>
          </a:stretch>
        </p:blipFill>
        <p:spPr>
          <a:xfrm>
            <a:off x="662940" y="3680460"/>
            <a:ext cx="192024" cy="192024"/>
          </a:xfrm>
          <a:prstGeom prst="rect">
            <a:avLst/>
          </a:prstGeom>
        </p:spPr>
      </p:pic>
      <p:sp>
        <p:nvSpPr>
          <p:cNvPr id="26" name="Text 19"/>
          <p:cNvSpPr txBox="1"/>
          <p:nvPr/>
        </p:nvSpPr>
        <p:spPr>
          <a:xfrm>
            <a:off x="1051560" y="3611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HPA</a:t>
            </a:r>
            <a:endParaRPr lang="en-US" sz="1250" dirty="0"/>
          </a:p>
        </p:txBody>
      </p:sp>
      <p:sp>
        <p:nvSpPr>
          <p:cNvPr id="27" name="Text 20"/>
          <p:cNvSpPr txBox="1"/>
          <p:nvPr/>
        </p:nvSpPr>
        <p:spPr>
          <a:xfrm>
            <a:off x="594360" y="3931920"/>
            <a:ext cx="2194560" cy="548640"/>
          </a:xfrm>
          <a:prstGeom prst="rect">
            <a:avLst/>
          </a:prstGeom>
          <a:noFill/>
          <a:ln/>
        </p:spPr>
        <p:txBody>
          <a:bodyPr wrap="square" lIns="0" tIns="0" rIns="0" bIns="0" rtlCol="0" anchor="ctr"/>
          <a:lstStyle/>
          <a:p>
            <a:pPr indent="0" marL="0">
              <a:buNone/>
            </a:pPr>
            <a:r>
              <a:rPr lang="en-US" sz="950" dirty="0">
                <a:solidFill>
                  <a:schemeClr val="tx2"/>
                </a:solidFill>
              </a:rPr>
              <a:t>2 to 5 replicas at 60% CPU; scaled 2 -&gt; 4 under a wget load test</a:t>
            </a:r>
            <a:endParaRPr lang="en-US" sz="950" dirty="0"/>
          </a:p>
        </p:txBody>
      </p:sp>
      <p:sp>
        <p:nvSpPr>
          <p:cNvPr id="28" name="k8s card Helm chart"/>
          <p:cNvSpPr/>
          <p:nvPr/>
        </p:nvSpPr>
        <p:spPr>
          <a:xfrm>
            <a:off x="3017520" y="3474720"/>
            <a:ext cx="2423160" cy="1005840"/>
          </a:xfrm>
          <a:prstGeom prst="roundRect">
            <a:avLst>
              <a:gd name="adj" fmla="val 7273"/>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9" name="Helm chart circle"/>
          <p:cNvSpPr/>
          <p:nvPr/>
        </p:nvSpPr>
        <p:spPr>
          <a:xfrm>
            <a:off x="3127248" y="3584448"/>
            <a:ext cx="384048" cy="384048"/>
          </a:xfrm>
          <a:prstGeom prst="ellipse">
            <a:avLst/>
          </a:prstGeom>
          <a:solidFill>
            <a:srgbClr val="02C39A"/>
          </a:solidFill>
          <a:ln w="12700">
            <a:solidFill>
              <a:srgbClr val="02C39A"/>
            </a:solidFill>
            <a:prstDash val="solid"/>
          </a:ln>
        </p:spPr>
      </p:sp>
      <p:pic>
        <p:nvPicPr>
          <p:cNvPr id="30" name="Helm chart icon" descr="preencoded.png">    </p:cNvPr>
          <p:cNvPicPr>
            <a:picLocks noChangeAspect="1"/>
          </p:cNvPicPr>
          <p:nvPr/>
        </p:nvPicPr>
        <p:blipFill>
          <a:blip r:embed="rId6"/>
          <a:stretch>
            <a:fillRect/>
          </a:stretch>
        </p:blipFill>
        <p:spPr>
          <a:xfrm>
            <a:off x="3223260" y="3680460"/>
            <a:ext cx="192024" cy="192024"/>
          </a:xfrm>
          <a:prstGeom prst="rect">
            <a:avLst/>
          </a:prstGeom>
        </p:spPr>
      </p:pic>
      <p:sp>
        <p:nvSpPr>
          <p:cNvPr id="31" name="Text 23"/>
          <p:cNvSpPr txBox="1"/>
          <p:nvPr/>
        </p:nvSpPr>
        <p:spPr>
          <a:xfrm>
            <a:off x="3611880" y="3611880"/>
            <a:ext cx="1737360" cy="274320"/>
          </a:xfrm>
          <a:prstGeom prst="rect">
            <a:avLst/>
          </a:prstGeom>
          <a:noFill/>
          <a:ln/>
        </p:spPr>
        <p:txBody>
          <a:bodyPr wrap="square" lIns="0" tIns="0" rIns="0" bIns="0" rtlCol="0" anchor="ctr"/>
          <a:lstStyle/>
          <a:p>
            <a:pPr indent="0" marL="0">
              <a:buNone/>
            </a:pPr>
            <a:r>
              <a:rPr lang="en-US" sz="1250" b="1" dirty="0">
                <a:solidFill>
                  <a:schemeClr val="tx1"/>
                </a:solidFill>
              </a:rPr>
              <a:t>Helm chart</a:t>
            </a:r>
            <a:endParaRPr lang="en-US" sz="1250" dirty="0"/>
          </a:p>
        </p:txBody>
      </p:sp>
      <p:sp>
        <p:nvSpPr>
          <p:cNvPr id="32" name="Text 24"/>
          <p:cNvSpPr txBox="1"/>
          <p:nvPr/>
        </p:nvSpPr>
        <p:spPr>
          <a:xfrm>
            <a:off x="3154680" y="3931920"/>
            <a:ext cx="2194560" cy="548640"/>
          </a:xfrm>
          <a:prstGeom prst="rect">
            <a:avLst/>
          </a:prstGeom>
          <a:noFill/>
          <a:ln/>
        </p:spPr>
        <p:txBody>
          <a:bodyPr wrap="square" lIns="0" tIns="0" rIns="0" bIns="0" rtlCol="0" anchor="ctr"/>
          <a:lstStyle/>
          <a:p>
            <a:pPr indent="0" marL="0">
              <a:buNone/>
            </a:pPr>
            <a:r>
              <a:rPr lang="en-US" sz="950" dirty="0">
                <a:solidFill>
                  <a:schemeClr val="tx2"/>
                </a:solidFill>
              </a:rPr>
              <a:t>values.yaml / values-prod.yaml, helm lint, helm upgrade --install, used by the CD job</a:t>
            </a:r>
            <a:endParaRPr lang="en-US" sz="950" dirty="0"/>
          </a:p>
        </p:txBody>
      </p:sp>
      <p:pic>
        <p:nvPicPr>
          <p:cNvPr id="33" name="app via service" descr="/Users/vivek/Desktop/devops_final_assignment/session-21-final-devops-project/final-devops-project/screenshots/k8s-app-via-service.png">    </p:cNvPr>
          <p:cNvPicPr>
            <a:picLocks noChangeAspect="1"/>
          </p:cNvPicPr>
          <p:nvPr/>
        </p:nvPicPr>
        <p:blipFill>
          <a:blip r:embed="rId7"/>
          <a:stretch>
            <a:fillRect/>
          </a:stretch>
        </p:blipFill>
        <p:spPr>
          <a:xfrm>
            <a:off x="5669280" y="1188720"/>
            <a:ext cx="3017520" cy="1764792"/>
          </a:xfrm>
          <a:prstGeom prst="rect">
            <a:avLst/>
          </a:prstGeom>
        </p:spPr>
      </p:pic>
      <p:pic>
        <p:nvPicPr>
          <p:cNvPr id="34" name="kubectl verification" descr="/Users/vivek/Desktop/devops_final_assignment/session-21-final-devops-project/final-devops-project/screenshots/07-kubernetes-verify-01.png">    </p:cNvPr>
          <p:cNvPicPr>
            <a:picLocks noChangeAspect="1"/>
          </p:cNvPicPr>
          <p:nvPr/>
        </p:nvPicPr>
        <p:blipFill>
          <a:blip r:embed="rId8"/>
          <a:srcRect l="0" r="0" t="0" b="0"/>
          <a:stretch/>
        </p:blipFill>
        <p:spPr>
          <a:xfrm>
            <a:off x="5669280" y="3063240"/>
            <a:ext cx="3017520" cy="1508760"/>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Monitoring and observability</a:t>
            </a:r>
            <a:endParaRPr lang="en-US" sz="3000" dirty="0"/>
          </a:p>
        </p:txBody>
      </p:sp>
      <p:pic>
        <p:nvPicPr>
          <p:cNvPr id="3" name="grafana dashboard" descr="/Users/vivek/Desktop/devops_final_assignment/session-21-final-devops-project/final-devops-project/screenshots/grafana-taskboard.png">    </p:cNvPr>
          <p:cNvPicPr>
            <a:picLocks noChangeAspect="1"/>
          </p:cNvPicPr>
          <p:nvPr/>
        </p:nvPicPr>
        <p:blipFill>
          <a:blip r:embed="rId1"/>
          <a:stretch>
            <a:fillRect/>
          </a:stretch>
        </p:blipFill>
        <p:spPr>
          <a:xfrm>
            <a:off x="457200" y="1143000"/>
            <a:ext cx="5120640" cy="2880360"/>
          </a:xfrm>
          <a:prstGeom prst="rect">
            <a:avLst/>
          </a:prstGeom>
        </p:spPr>
      </p:pic>
      <p:sp>
        <p:nvSpPr>
          <p:cNvPr id="4" name="Text 1"/>
          <p:cNvSpPr txBox="1"/>
          <p:nvPr/>
        </p:nvSpPr>
        <p:spPr>
          <a:xfrm>
            <a:off x="457200" y="4069080"/>
            <a:ext cx="5120640" cy="457200"/>
          </a:xfrm>
          <a:prstGeom prst="rect">
            <a:avLst/>
          </a:prstGeom>
          <a:noFill/>
          <a:ln/>
        </p:spPr>
        <p:txBody>
          <a:bodyPr wrap="square" lIns="0" tIns="0" rIns="0" bIns="0" rtlCol="0" anchor="ctr"/>
          <a:lstStyle/>
          <a:p>
            <a:pPr indent="0" marL="0">
              <a:buNone/>
            </a:pPr>
            <a:r>
              <a:rPr lang="en-US" sz="1000" dirty="0">
                <a:solidFill>
                  <a:schemeClr val="tx2"/>
                </a:solidFill>
              </a:rPr>
              <a:t>Grafana dashboard provisioned from the repo: target status, open tasks, 5xx ratio, request rate by endpoint</a:t>
            </a:r>
            <a:endParaRPr lang="en-US" sz="1000" dirty="0"/>
          </a:p>
        </p:txBody>
      </p:sp>
      <p:sp>
        <p:nvSpPr>
          <p:cNvPr id="5" name="mon Metrics"/>
          <p:cNvSpPr/>
          <p:nvPr/>
        </p:nvSpPr>
        <p:spPr>
          <a:xfrm>
            <a:off x="5852160" y="114300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6" name="Metrics circle"/>
          <p:cNvSpPr/>
          <p:nvPr/>
        </p:nvSpPr>
        <p:spPr>
          <a:xfrm>
            <a:off x="5961888" y="1252728"/>
            <a:ext cx="384048" cy="384048"/>
          </a:xfrm>
          <a:prstGeom prst="ellipse">
            <a:avLst/>
          </a:prstGeom>
          <a:solidFill>
            <a:srgbClr val="1C7293"/>
          </a:solidFill>
          <a:ln w="12700">
            <a:solidFill>
              <a:srgbClr val="1C7293"/>
            </a:solidFill>
            <a:prstDash val="solid"/>
          </a:ln>
        </p:spPr>
      </p:sp>
      <p:pic>
        <p:nvPicPr>
          <p:cNvPr id="7" name="Metrics icon" descr="preencoded.png">    </p:cNvPr>
          <p:cNvPicPr>
            <a:picLocks noChangeAspect="1"/>
          </p:cNvPicPr>
          <p:nvPr/>
        </p:nvPicPr>
        <p:blipFill>
          <a:blip r:embed="rId2"/>
          <a:stretch>
            <a:fillRect/>
          </a:stretch>
        </p:blipFill>
        <p:spPr>
          <a:xfrm>
            <a:off x="6057900" y="1348740"/>
            <a:ext cx="192024" cy="192024"/>
          </a:xfrm>
          <a:prstGeom prst="rect">
            <a:avLst/>
          </a:prstGeom>
        </p:spPr>
      </p:pic>
      <p:sp>
        <p:nvSpPr>
          <p:cNvPr id="8" name="Text 4"/>
          <p:cNvSpPr txBox="1"/>
          <p:nvPr/>
        </p:nvSpPr>
        <p:spPr>
          <a:xfrm>
            <a:off x="6446520" y="1280160"/>
            <a:ext cx="2103120" cy="274320"/>
          </a:xfrm>
          <a:prstGeom prst="rect">
            <a:avLst/>
          </a:prstGeom>
          <a:noFill/>
          <a:ln/>
        </p:spPr>
        <p:txBody>
          <a:bodyPr wrap="square" lIns="0" tIns="0" rIns="0" bIns="0" rtlCol="0" anchor="ctr"/>
          <a:lstStyle/>
          <a:p>
            <a:pPr indent="0" marL="0">
              <a:buNone/>
            </a:pPr>
            <a:r>
              <a:rPr lang="en-US" sz="1250" b="1" dirty="0">
                <a:solidFill>
                  <a:schemeClr val="tx1"/>
                </a:solidFill>
              </a:rPr>
              <a:t>Metrics</a:t>
            </a:r>
            <a:endParaRPr lang="en-US" sz="1250" dirty="0"/>
          </a:p>
        </p:txBody>
      </p:sp>
      <p:sp>
        <p:nvSpPr>
          <p:cNvPr id="9" name="Text 5"/>
          <p:cNvSpPr txBox="1"/>
          <p:nvPr/>
        </p:nvSpPr>
        <p:spPr>
          <a:xfrm>
            <a:off x="5989320" y="1600200"/>
            <a:ext cx="2606040" cy="502920"/>
          </a:xfrm>
          <a:prstGeom prst="rect">
            <a:avLst/>
          </a:prstGeom>
          <a:noFill/>
          <a:ln/>
        </p:spPr>
        <p:txBody>
          <a:bodyPr wrap="square" lIns="0" tIns="0" rIns="0" bIns="0" rtlCol="0" anchor="ctr"/>
          <a:lstStyle/>
          <a:p>
            <a:pPr indent="0" marL="0">
              <a:buNone/>
            </a:pPr>
            <a:r>
              <a:rPr lang="en-US" sz="950" dirty="0">
                <a:solidFill>
                  <a:schemeClr val="tx2"/>
                </a:solidFill>
              </a:rPr>
              <a:t>/metrics exposes taskboard_requests_total, taskboard_tasks_open and more; Prometheus scrapes it, kubectl top feeds the HPA</a:t>
            </a:r>
            <a:endParaRPr lang="en-US" sz="950" dirty="0"/>
          </a:p>
        </p:txBody>
      </p:sp>
      <p:sp>
        <p:nvSpPr>
          <p:cNvPr id="10" name="mon Logs"/>
          <p:cNvSpPr/>
          <p:nvPr/>
        </p:nvSpPr>
        <p:spPr>
          <a:xfrm>
            <a:off x="5852160" y="224028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1" name="Logs circle"/>
          <p:cNvSpPr/>
          <p:nvPr/>
        </p:nvSpPr>
        <p:spPr>
          <a:xfrm>
            <a:off x="5961888" y="2350008"/>
            <a:ext cx="384048" cy="384048"/>
          </a:xfrm>
          <a:prstGeom prst="ellipse">
            <a:avLst/>
          </a:prstGeom>
          <a:solidFill>
            <a:srgbClr val="1C7293"/>
          </a:solidFill>
          <a:ln w="12700">
            <a:solidFill>
              <a:srgbClr val="1C7293"/>
            </a:solidFill>
            <a:prstDash val="solid"/>
          </a:ln>
        </p:spPr>
      </p:sp>
      <p:pic>
        <p:nvPicPr>
          <p:cNvPr id="12" name="Logs icon" descr="preencoded.png">    </p:cNvPr>
          <p:cNvPicPr>
            <a:picLocks noChangeAspect="1"/>
          </p:cNvPicPr>
          <p:nvPr/>
        </p:nvPicPr>
        <p:blipFill>
          <a:blip r:embed="rId3"/>
          <a:stretch>
            <a:fillRect/>
          </a:stretch>
        </p:blipFill>
        <p:spPr>
          <a:xfrm>
            <a:off x="6057900" y="2446020"/>
            <a:ext cx="192024" cy="192024"/>
          </a:xfrm>
          <a:prstGeom prst="rect">
            <a:avLst/>
          </a:prstGeom>
        </p:spPr>
      </p:pic>
      <p:sp>
        <p:nvSpPr>
          <p:cNvPr id="13" name="Text 8"/>
          <p:cNvSpPr txBox="1"/>
          <p:nvPr/>
        </p:nvSpPr>
        <p:spPr>
          <a:xfrm>
            <a:off x="6446520" y="2377440"/>
            <a:ext cx="2103120" cy="274320"/>
          </a:xfrm>
          <a:prstGeom prst="rect">
            <a:avLst/>
          </a:prstGeom>
          <a:noFill/>
          <a:ln/>
        </p:spPr>
        <p:txBody>
          <a:bodyPr wrap="square" lIns="0" tIns="0" rIns="0" bIns="0" rtlCol="0" anchor="ctr"/>
          <a:lstStyle/>
          <a:p>
            <a:pPr indent="0" marL="0">
              <a:buNone/>
            </a:pPr>
            <a:r>
              <a:rPr lang="en-US" sz="1250" b="1" dirty="0">
                <a:solidFill>
                  <a:schemeClr val="tx1"/>
                </a:solidFill>
              </a:rPr>
              <a:t>Logs</a:t>
            </a:r>
            <a:endParaRPr lang="en-US" sz="1250" dirty="0"/>
          </a:p>
        </p:txBody>
      </p:sp>
      <p:sp>
        <p:nvSpPr>
          <p:cNvPr id="14" name="Text 9"/>
          <p:cNvSpPr txBox="1"/>
          <p:nvPr/>
        </p:nvSpPr>
        <p:spPr>
          <a:xfrm>
            <a:off x="5989320" y="2697480"/>
            <a:ext cx="2606040" cy="502920"/>
          </a:xfrm>
          <a:prstGeom prst="rect">
            <a:avLst/>
          </a:prstGeom>
          <a:noFill/>
          <a:ln/>
        </p:spPr>
        <p:txBody>
          <a:bodyPr wrap="square" lIns="0" tIns="0" rIns="0" bIns="0" rtlCol="0" anchor="ctr"/>
          <a:lstStyle/>
          <a:p>
            <a:pPr indent="0" marL="0">
              <a:buNone/>
            </a:pPr>
            <a:r>
              <a:rPr lang="en-US" sz="950" dirty="0">
                <a:solidFill>
                  <a:schemeClr val="tx2"/>
                </a:solidFill>
              </a:rPr>
              <a:t>Structured application logs via kubectl logs and docker compose logs</a:t>
            </a:r>
            <a:endParaRPr lang="en-US" sz="950" dirty="0"/>
          </a:p>
        </p:txBody>
      </p:sp>
      <p:sp>
        <p:nvSpPr>
          <p:cNvPr id="15" name="mon Alerts"/>
          <p:cNvSpPr/>
          <p:nvPr/>
        </p:nvSpPr>
        <p:spPr>
          <a:xfrm>
            <a:off x="5852160" y="3337560"/>
            <a:ext cx="2834640" cy="960120"/>
          </a:xfrm>
          <a:prstGeom prst="roundRect">
            <a:avLst>
              <a:gd name="adj" fmla="val 7619"/>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6" name="Alerts circle"/>
          <p:cNvSpPr/>
          <p:nvPr/>
        </p:nvSpPr>
        <p:spPr>
          <a:xfrm>
            <a:off x="5961888" y="3447288"/>
            <a:ext cx="384048" cy="384048"/>
          </a:xfrm>
          <a:prstGeom prst="ellipse">
            <a:avLst/>
          </a:prstGeom>
          <a:solidFill>
            <a:srgbClr val="1C7293"/>
          </a:solidFill>
          <a:ln w="12700">
            <a:solidFill>
              <a:srgbClr val="1C7293"/>
            </a:solidFill>
            <a:prstDash val="solid"/>
          </a:ln>
        </p:spPr>
      </p:sp>
      <p:pic>
        <p:nvPicPr>
          <p:cNvPr id="17" name="Alerts icon" descr="preencoded.png">    </p:cNvPr>
          <p:cNvPicPr>
            <a:picLocks noChangeAspect="1"/>
          </p:cNvPicPr>
          <p:nvPr/>
        </p:nvPicPr>
        <p:blipFill>
          <a:blip r:embed="rId4"/>
          <a:stretch>
            <a:fillRect/>
          </a:stretch>
        </p:blipFill>
        <p:spPr>
          <a:xfrm>
            <a:off x="6057900" y="3543300"/>
            <a:ext cx="192024" cy="192024"/>
          </a:xfrm>
          <a:prstGeom prst="rect">
            <a:avLst/>
          </a:prstGeom>
        </p:spPr>
      </p:pic>
      <p:sp>
        <p:nvSpPr>
          <p:cNvPr id="18" name="Text 12"/>
          <p:cNvSpPr txBox="1"/>
          <p:nvPr/>
        </p:nvSpPr>
        <p:spPr>
          <a:xfrm>
            <a:off x="6446520" y="3474720"/>
            <a:ext cx="2103120" cy="274320"/>
          </a:xfrm>
          <a:prstGeom prst="rect">
            <a:avLst/>
          </a:prstGeom>
          <a:noFill/>
          <a:ln/>
        </p:spPr>
        <p:txBody>
          <a:bodyPr wrap="square" lIns="0" tIns="0" rIns="0" bIns="0" rtlCol="0" anchor="ctr"/>
          <a:lstStyle/>
          <a:p>
            <a:pPr indent="0" marL="0">
              <a:buNone/>
            </a:pPr>
            <a:r>
              <a:rPr lang="en-US" sz="1250" b="1" dirty="0">
                <a:solidFill>
                  <a:schemeClr val="tx1"/>
                </a:solidFill>
              </a:rPr>
              <a:t>Alerts</a:t>
            </a:r>
            <a:endParaRPr lang="en-US" sz="1250" dirty="0"/>
          </a:p>
        </p:txBody>
      </p:sp>
      <p:sp>
        <p:nvSpPr>
          <p:cNvPr id="19" name="Text 13"/>
          <p:cNvSpPr txBox="1"/>
          <p:nvPr/>
        </p:nvSpPr>
        <p:spPr>
          <a:xfrm>
            <a:off x="5989320" y="3794760"/>
            <a:ext cx="2606040" cy="502920"/>
          </a:xfrm>
          <a:prstGeom prst="rect">
            <a:avLst/>
          </a:prstGeom>
          <a:noFill/>
          <a:ln/>
        </p:spPr>
        <p:txBody>
          <a:bodyPr wrap="square" lIns="0" tIns="0" rIns="0" bIns="0" rtlCol="0" anchor="ctr"/>
          <a:lstStyle/>
          <a:p>
            <a:pPr indent="0" marL="0">
              <a:buNone/>
            </a:pPr>
            <a:r>
              <a:rPr lang="en-US" sz="950" dirty="0">
                <a:solidFill>
                  <a:schemeClr val="tx2"/>
                </a:solidFill>
              </a:rPr>
              <a:t>TaskboardDown and error-rate rules; an alert was made to fire and resolve in the Session 20 demo</a:t>
            </a:r>
            <a:endParaRPr lang="en-US" sz="9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GitOps with Argo CD</a:t>
            </a:r>
            <a:endParaRPr lang="en-US" sz="3000" dirty="0"/>
          </a:p>
        </p:txBody>
      </p:sp>
      <p:sp>
        <p:nvSpPr>
          <p:cNvPr id="3" name="step0"/>
          <p:cNvSpPr/>
          <p:nvPr/>
        </p:nvSpPr>
        <p:spPr>
          <a:xfrm>
            <a:off x="457200" y="1261872"/>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26187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 3"/>
          <p:cNvSpPr txBox="1"/>
          <p:nvPr/>
        </p:nvSpPr>
        <p:spPr>
          <a:xfrm>
            <a:off x="1051560" y="1280160"/>
            <a:ext cx="4023360" cy="457200"/>
          </a:xfrm>
          <a:prstGeom prst="rect">
            <a:avLst/>
          </a:prstGeom>
          <a:noFill/>
          <a:ln/>
        </p:spPr>
        <p:txBody>
          <a:bodyPr wrap="square" lIns="0" tIns="0" rIns="0" bIns="0" rtlCol="0" anchor="ctr"/>
          <a:lstStyle/>
          <a:p>
            <a:pPr indent="0" marL="0">
              <a:buNone/>
            </a:pPr>
            <a:r>
              <a:rPr lang="en-US" sz="1250" dirty="0">
                <a:solidFill>
                  <a:schemeClr val="tx1"/>
                </a:solidFill>
              </a:rPr>
              <a:t>Developer opens a PR with a manifest or image-tag change</a:t>
            </a:r>
            <a:endParaRPr lang="en-US" sz="1250" dirty="0"/>
          </a:p>
        </p:txBody>
      </p:sp>
      <p:sp>
        <p:nvSpPr>
          <p:cNvPr id="6" name="step1"/>
          <p:cNvSpPr/>
          <p:nvPr/>
        </p:nvSpPr>
        <p:spPr>
          <a:xfrm>
            <a:off x="457200" y="2039112"/>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203911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 6"/>
          <p:cNvSpPr txBox="1"/>
          <p:nvPr/>
        </p:nvSpPr>
        <p:spPr>
          <a:xfrm>
            <a:off x="1051560" y="2057400"/>
            <a:ext cx="4023360" cy="457200"/>
          </a:xfrm>
          <a:prstGeom prst="rect">
            <a:avLst/>
          </a:prstGeom>
          <a:noFill/>
          <a:ln/>
        </p:spPr>
        <p:txBody>
          <a:bodyPr wrap="square" lIns="0" tIns="0" rIns="0" bIns="0" rtlCol="0" anchor="ctr"/>
          <a:lstStyle/>
          <a:p>
            <a:pPr indent="0" marL="0">
              <a:buNone/>
            </a:pPr>
            <a:r>
              <a:rPr lang="en-US" sz="1250" dirty="0">
                <a:solidFill>
                  <a:schemeClr val="tx1"/>
                </a:solidFill>
              </a:rPr>
              <a:t>Merge to main: Git is the only source of truth</a:t>
            </a:r>
            <a:endParaRPr lang="en-US" sz="1250" dirty="0"/>
          </a:p>
        </p:txBody>
      </p:sp>
      <p:sp>
        <p:nvSpPr>
          <p:cNvPr id="9" name="step2"/>
          <p:cNvSpPr/>
          <p:nvPr/>
        </p:nvSpPr>
        <p:spPr>
          <a:xfrm>
            <a:off x="457200" y="2816352"/>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81635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Text 9"/>
          <p:cNvSpPr txBox="1"/>
          <p:nvPr/>
        </p:nvSpPr>
        <p:spPr>
          <a:xfrm>
            <a:off x="1051560" y="2834640"/>
            <a:ext cx="4023360" cy="457200"/>
          </a:xfrm>
          <a:prstGeom prst="rect">
            <a:avLst/>
          </a:prstGeom>
          <a:noFill/>
          <a:ln/>
        </p:spPr>
        <p:txBody>
          <a:bodyPr wrap="square" lIns="0" tIns="0" rIns="0" bIns="0" rtlCol="0" anchor="ctr"/>
          <a:lstStyle/>
          <a:p>
            <a:pPr indent="0" marL="0">
              <a:buNone/>
            </a:pPr>
            <a:r>
              <a:rPr lang="en-US" sz="1250" dirty="0">
                <a:solidFill>
                  <a:schemeClr val="tx1"/>
                </a:solidFill>
              </a:rPr>
              <a:t>Argo CD detects the new commit and syncs the namespace</a:t>
            </a:r>
            <a:endParaRPr lang="en-US" sz="1250" dirty="0"/>
          </a:p>
        </p:txBody>
      </p:sp>
      <p:sp>
        <p:nvSpPr>
          <p:cNvPr id="12" name="step3"/>
          <p:cNvSpPr/>
          <p:nvPr/>
        </p:nvSpPr>
        <p:spPr>
          <a:xfrm>
            <a:off x="457200" y="3593592"/>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59359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 12"/>
          <p:cNvSpPr txBox="1"/>
          <p:nvPr/>
        </p:nvSpPr>
        <p:spPr>
          <a:xfrm>
            <a:off x="1051560" y="3611880"/>
            <a:ext cx="4023360" cy="457200"/>
          </a:xfrm>
          <a:prstGeom prst="rect">
            <a:avLst/>
          </a:prstGeom>
          <a:noFill/>
          <a:ln/>
        </p:spPr>
        <p:txBody>
          <a:bodyPr wrap="square" lIns="0" tIns="0" rIns="0" bIns="0" rtlCol="0" anchor="ctr"/>
          <a:lstStyle/>
          <a:p>
            <a:pPr indent="0" marL="0">
              <a:buNone/>
            </a:pPr>
            <a:r>
              <a:rPr lang="en-US" sz="1250" dirty="0">
                <a:solidFill>
                  <a:schemeClr val="tx1"/>
                </a:solidFill>
              </a:rPr>
              <a:t>Manual drift (kubectl scale) is reverted by selfHeal</a:t>
            </a:r>
            <a:endParaRPr lang="en-US" sz="1250" dirty="0"/>
          </a:p>
        </p:txBody>
      </p:sp>
      <p:sp>
        <p:nvSpPr>
          <p:cNvPr id="15" name="gitops note"/>
          <p:cNvSpPr/>
          <p:nvPr/>
        </p:nvSpPr>
        <p:spPr>
          <a:xfrm>
            <a:off x="457200" y="4343400"/>
            <a:ext cx="4617720" cy="365760"/>
          </a:xfrm>
          <a:prstGeom prst="roundRect">
            <a:avLst>
              <a:gd name="adj" fmla="val 20000"/>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6" name="Text 14"/>
          <p:cNvSpPr txBox="1"/>
          <p:nvPr/>
        </p:nvSpPr>
        <p:spPr>
          <a:xfrm>
            <a:off x="594360" y="4389120"/>
            <a:ext cx="4389120" cy="274320"/>
          </a:xfrm>
          <a:prstGeom prst="rect">
            <a:avLst/>
          </a:prstGeom>
          <a:noFill/>
          <a:ln/>
        </p:spPr>
        <p:txBody>
          <a:bodyPr wrap="square" lIns="0" tIns="0" rIns="0" bIns="0" rtlCol="0" anchor="ctr"/>
          <a:lstStyle/>
          <a:p>
            <a:pPr indent="0" marL="0">
              <a:buNone/>
            </a:pPr>
            <a:r>
              <a:rPr lang="en-US" sz="1000" dirty="0">
                <a:solidFill>
                  <a:schemeClr val="tx2"/>
                </a:solidFill>
              </a:rPr>
              <a:t>gitops/argocd-application.yaml: automated sync, prune, selfHeal, CreateNamespace</a:t>
            </a:r>
            <a:endParaRPr lang="en-US" sz="1000" dirty="0"/>
          </a:p>
        </p:txBody>
      </p:sp>
      <p:pic>
        <p:nvPicPr>
          <p:cNvPr id="17" name="argocd self heal" descr="/Users/vivek/Desktop/devops_final_assignment/session-20-monitoring-observability-gitops/screenshots/task3-argocd-self-heal-01.png">    </p:cNvPr>
          <p:cNvPicPr>
            <a:picLocks noChangeAspect="1"/>
          </p:cNvPicPr>
          <p:nvPr/>
        </p:nvPicPr>
        <p:blipFill>
          <a:blip r:embed="rId1"/>
          <a:srcRect l="0" r="0" t="0" b="0"/>
          <a:stretch/>
        </p:blipFill>
        <p:spPr>
          <a:xfrm>
            <a:off x="5394960" y="1188720"/>
            <a:ext cx="3291840" cy="3520440"/>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Troubleshooting: four injected failures</a:t>
            </a:r>
            <a:endParaRPr lang="en-US" sz="3000" dirty="0"/>
          </a:p>
        </p:txBody>
      </p:sp>
      <p:graphicFrame>
        <p:nvGraphicFramePr>
          <p:cNvPr id="14" name="troubleshooting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
                <a:gridCol w="2194560"/>
                <a:gridCol w="2651760"/>
                <a:gridCol w="3017520"/>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Investigation</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Root cause and fix</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B1F33"/>
                    </a:solidFill>
                  </a:tcPr>
                </a:tc>
              </a:tr>
              <a:tr h="438912">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ImagePullBackOff</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kubectl describe pod: manifest unknown</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Tag v9.9.9 does not exist; kubectl set image to a valid tag</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38912">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Service has no endpoints, requests fail</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kubectl get endpoints, --show-labels</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Selector scenario-2 vs label scenario-02; patch the selector</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38912">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CreateContainerConfigError</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Events: couldn't find key DB_PASS</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Wrong secretKeyRef key; patch it to DB_PASSWORD</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r h="438912">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Pods never Ready, 503 via ingress</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describe pod: readiness probe 404 on /readyz</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c>
                  <a:txBody>
                    <a:bodyPr/>
                    <a:lstStyle/>
                    <a:p>
                      <a:pPr indent="0" marL="0">
                        <a:buNone/>
                      </a:pPr>
                      <a:r>
                        <a:rPr lang="en-US" sz="1050" dirty="0">
                          <a:solidFill>
                            <a:srgbClr val="0B1F33"/>
                          </a:solidFill>
                          <a:latin typeface="Calibri" pitchFamily="34" charset="0"/>
                          <a:ea typeface="Calibri" pitchFamily="34" charset="-122"/>
                          <a:cs typeface="Calibri" pitchFamily="34" charset="-120"/>
                        </a:rPr>
                        <a:t>Probe path typo; patch readinessProbe path to /ready</a:t>
                      </a:r>
                      <a:endParaRPr lang="en-US" sz="1050" dirty="0">
                        <a:latin typeface="Calibri" charset="0"/>
                        <a:ea typeface="Calibri" charset="0"/>
                        <a:cs typeface="Calibri" charset="0"/>
                      </a:endParaRPr>
                    </a:p>
                  </a:txBody>
                  <a:tcPr marL="91440" marR="91440" marT="45720" marB="45720"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tcPr>
                </a:tc>
              </a:tr>
            </a:tbl>
          </a:graphicData>
        </a:graphic>
      </p:graphicFrame>
      <p:sp>
        <p:nvSpPr>
          <p:cNvPr id="4" name="bug circle"/>
          <p:cNvSpPr/>
          <p:nvPr/>
        </p:nvSpPr>
        <p:spPr>
          <a:xfrm>
            <a:off x="457200" y="3840480"/>
            <a:ext cx="548640" cy="548640"/>
          </a:xfrm>
          <a:prstGeom prst="ellipse">
            <a:avLst/>
          </a:prstGeom>
          <a:solidFill>
            <a:srgbClr val="E06C75"/>
          </a:solidFill>
          <a:ln w="12700">
            <a:solidFill>
              <a:srgbClr val="E06C75"/>
            </a:solidFill>
            <a:prstDash val="solid"/>
          </a:ln>
        </p:spPr>
      </p:sp>
      <p:pic>
        <p:nvPicPr>
          <p:cNvPr id="5" name="bug icon" descr="preencoded.png">    </p:cNvPr>
          <p:cNvPicPr>
            <a:picLocks noChangeAspect="1"/>
          </p:cNvPicPr>
          <p:nvPr/>
        </p:nvPicPr>
        <p:blipFill>
          <a:blip r:embed="rId1"/>
          <a:stretch>
            <a:fillRect/>
          </a:stretch>
        </p:blipFill>
        <p:spPr>
          <a:xfrm>
            <a:off x="594360" y="3977640"/>
            <a:ext cx="274320" cy="274320"/>
          </a:xfrm>
          <a:prstGeom prst="rect">
            <a:avLst/>
          </a:prstGeom>
        </p:spPr>
      </p:pic>
      <p:sp>
        <p:nvSpPr>
          <p:cNvPr id="6" name="Text 2"/>
          <p:cNvSpPr txBox="1"/>
          <p:nvPr/>
        </p:nvSpPr>
        <p:spPr>
          <a:xfrm>
            <a:off x="1143000" y="3840480"/>
            <a:ext cx="7498080" cy="640080"/>
          </a:xfrm>
          <a:prstGeom prst="rect">
            <a:avLst/>
          </a:prstGeom>
          <a:noFill/>
          <a:ln/>
        </p:spPr>
        <p:txBody>
          <a:bodyPr wrap="square" lIns="0" tIns="0" rIns="0" bIns="0" rtlCol="0" anchor="ctr"/>
          <a:lstStyle/>
          <a:p>
            <a:pPr indent="0" marL="0">
              <a:buNone/>
            </a:pPr>
            <a:r>
              <a:rPr lang="en-US" sz="1150" dirty="0">
                <a:solidFill>
                  <a:schemeClr val="tx2"/>
                </a:solidFill>
              </a:rPr>
              <a:t>Same loop every time: identify (kubectl get) &gt; investigate (describe, logs, endpoints) &gt; root cause &gt; fix &gt; verify. Every step is captured with before/after output in the README.</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whole course, hands-on</a:t>
            </a:r>
            <a:endParaRPr lang="en-US" sz="4000" dirty="0"/>
          </a:p>
        </p:txBody>
      </p:sp>
      <p:sp>
        <p:nvSpPr>
          <p:cNvPr id="3" name="Text 1"/>
          <p:cNvSpPr txBox="1"/>
          <p:nvPr/>
        </p:nvSpPr>
        <p:spPr>
          <a:xfrm>
            <a:off x="548640" y="1463040"/>
            <a:ext cx="1920240" cy="914400"/>
          </a:xfrm>
          <a:prstGeom prst="rect">
            <a:avLst/>
          </a:prstGeom>
          <a:noFill/>
          <a:ln/>
        </p:spPr>
        <p:txBody>
          <a:bodyPr wrap="square" lIns="0" tIns="0" rIns="0" bIns="0" rtlCol="0" anchor="ctr"/>
          <a:lstStyle/>
          <a:p>
            <a:pPr indent="0" marL="0">
              <a:buNone/>
            </a:pPr>
            <a:r>
              <a:rPr lang="en-US" sz="5400" b="1" dirty="0">
                <a:solidFill>
                  <a:srgbClr val="02C39A"/>
                </a:solidFill>
              </a:rPr>
              <a:t>21</a:t>
            </a:r>
            <a:endParaRPr lang="en-US" sz="5400" dirty="0"/>
          </a:p>
        </p:txBody>
      </p:sp>
      <p:sp>
        <p:nvSpPr>
          <p:cNvPr id="4" name="Text 2"/>
          <p:cNvSpPr txBox="1"/>
          <p:nvPr/>
        </p:nvSpPr>
        <p:spPr>
          <a:xfrm>
            <a:off x="548640" y="2377440"/>
            <a:ext cx="1920240" cy="365760"/>
          </a:xfrm>
          <a:prstGeom prst="rect">
            <a:avLst/>
          </a:prstGeom>
          <a:noFill/>
          <a:ln/>
        </p:spPr>
        <p:txBody>
          <a:bodyPr wrap="square" lIns="0" tIns="0" rIns="0" bIns="0" rtlCol="0" anchor="ctr"/>
          <a:lstStyle/>
          <a:p>
            <a:pPr indent="0" marL="0">
              <a:buNone/>
            </a:pPr>
            <a:r>
              <a:rPr lang="en-US" sz="1300" dirty="0">
                <a:solidFill>
                  <a:srgbClr val="9BB7C9"/>
                </a:solidFill>
              </a:rPr>
              <a:t>sessions completed</a:t>
            </a:r>
            <a:endParaRPr lang="en-US" sz="1300" dirty="0"/>
          </a:p>
        </p:txBody>
      </p:sp>
      <p:sp>
        <p:nvSpPr>
          <p:cNvPr id="5" name="Text 3"/>
          <p:cNvSpPr txBox="1"/>
          <p:nvPr/>
        </p:nvSpPr>
        <p:spPr>
          <a:xfrm>
            <a:off x="2606040" y="1463040"/>
            <a:ext cx="1920240" cy="914400"/>
          </a:xfrm>
          <a:prstGeom prst="rect">
            <a:avLst/>
          </a:prstGeom>
          <a:noFill/>
          <a:ln/>
        </p:spPr>
        <p:txBody>
          <a:bodyPr wrap="square" lIns="0" tIns="0" rIns="0" bIns="0" rtlCol="0" anchor="ctr"/>
          <a:lstStyle/>
          <a:p>
            <a:pPr indent="0" marL="0">
              <a:buNone/>
            </a:pPr>
            <a:r>
              <a:rPr lang="en-US" sz="5400" b="1" dirty="0">
                <a:solidFill>
                  <a:srgbClr val="02C39A"/>
                </a:solidFill>
              </a:rPr>
              <a:t>83</a:t>
            </a:r>
            <a:endParaRPr lang="en-US" sz="5400" dirty="0"/>
          </a:p>
        </p:txBody>
      </p:sp>
      <p:sp>
        <p:nvSpPr>
          <p:cNvPr id="6" name="Text 4"/>
          <p:cNvSpPr txBox="1"/>
          <p:nvPr/>
        </p:nvSpPr>
        <p:spPr>
          <a:xfrm>
            <a:off x="2606040" y="2377440"/>
            <a:ext cx="1920240" cy="365760"/>
          </a:xfrm>
          <a:prstGeom prst="rect">
            <a:avLst/>
          </a:prstGeom>
          <a:noFill/>
          <a:ln/>
        </p:spPr>
        <p:txBody>
          <a:bodyPr wrap="square" lIns="0" tIns="0" rIns="0" bIns="0" rtlCol="0" anchor="ctr"/>
          <a:lstStyle/>
          <a:p>
            <a:pPr indent="0" marL="0">
              <a:buNone/>
            </a:pPr>
            <a:r>
              <a:rPr lang="en-US" sz="1300" dirty="0">
                <a:solidFill>
                  <a:srgbClr val="9BB7C9"/>
                </a:solidFill>
              </a:rPr>
              <a:t>commits in the repo</a:t>
            </a:r>
            <a:endParaRPr lang="en-US" sz="1300" dirty="0"/>
          </a:p>
        </p:txBody>
      </p:sp>
      <p:sp>
        <p:nvSpPr>
          <p:cNvPr id="7" name="Text 5"/>
          <p:cNvSpPr txBox="1"/>
          <p:nvPr/>
        </p:nvSpPr>
        <p:spPr>
          <a:xfrm>
            <a:off x="4663440" y="1463040"/>
            <a:ext cx="1920240" cy="914400"/>
          </a:xfrm>
          <a:prstGeom prst="rect">
            <a:avLst/>
          </a:prstGeom>
          <a:noFill/>
          <a:ln/>
        </p:spPr>
        <p:txBody>
          <a:bodyPr wrap="square" lIns="0" tIns="0" rIns="0" bIns="0" rtlCol="0" anchor="ctr"/>
          <a:lstStyle/>
          <a:p>
            <a:pPr indent="0" marL="0">
              <a:buNone/>
            </a:pPr>
            <a:r>
              <a:rPr lang="en-US" sz="5400" b="1" dirty="0">
                <a:solidFill>
                  <a:srgbClr val="02C39A"/>
                </a:solidFill>
              </a:rPr>
              <a:t>62</a:t>
            </a:r>
            <a:endParaRPr lang="en-US" sz="5400" dirty="0"/>
          </a:p>
        </p:txBody>
      </p:sp>
      <p:sp>
        <p:nvSpPr>
          <p:cNvPr id="8" name="Text 6"/>
          <p:cNvSpPr txBox="1"/>
          <p:nvPr/>
        </p:nvSpPr>
        <p:spPr>
          <a:xfrm>
            <a:off x="4663440" y="2377440"/>
            <a:ext cx="1920240" cy="365760"/>
          </a:xfrm>
          <a:prstGeom prst="rect">
            <a:avLst/>
          </a:prstGeom>
          <a:noFill/>
          <a:ln/>
        </p:spPr>
        <p:txBody>
          <a:bodyPr wrap="square" lIns="0" tIns="0" rIns="0" bIns="0" rtlCol="0" anchor="ctr"/>
          <a:lstStyle/>
          <a:p>
            <a:pPr indent="0" marL="0">
              <a:buNone/>
            </a:pPr>
            <a:r>
              <a:rPr lang="en-US" sz="1300" dirty="0">
                <a:solidFill>
                  <a:srgbClr val="9BB7C9"/>
                </a:solidFill>
              </a:rPr>
              <a:t>README files</a:t>
            </a:r>
            <a:endParaRPr lang="en-US" sz="1300" dirty="0"/>
          </a:p>
        </p:txBody>
      </p:sp>
      <p:sp>
        <p:nvSpPr>
          <p:cNvPr id="9" name="Text 7"/>
          <p:cNvSpPr txBox="1"/>
          <p:nvPr/>
        </p:nvSpPr>
        <p:spPr>
          <a:xfrm>
            <a:off x="6720840" y="1463040"/>
            <a:ext cx="1920240" cy="914400"/>
          </a:xfrm>
          <a:prstGeom prst="rect">
            <a:avLst/>
          </a:prstGeom>
          <a:noFill/>
          <a:ln/>
        </p:spPr>
        <p:txBody>
          <a:bodyPr wrap="square" lIns="0" tIns="0" rIns="0" bIns="0" rtlCol="0" anchor="ctr"/>
          <a:lstStyle/>
          <a:p>
            <a:pPr indent="0" marL="0">
              <a:buNone/>
            </a:pPr>
            <a:r>
              <a:rPr lang="en-US" sz="5400" b="1" dirty="0">
                <a:solidFill>
                  <a:srgbClr val="02C39A"/>
                </a:solidFill>
              </a:rPr>
              <a:t>204</a:t>
            </a:r>
            <a:endParaRPr lang="en-US" sz="5400" dirty="0"/>
          </a:p>
        </p:txBody>
      </p:sp>
      <p:sp>
        <p:nvSpPr>
          <p:cNvPr id="10" name="Text 8"/>
          <p:cNvSpPr txBox="1"/>
          <p:nvPr/>
        </p:nvSpPr>
        <p:spPr>
          <a:xfrm>
            <a:off x="6720840" y="2377440"/>
            <a:ext cx="1920240" cy="365760"/>
          </a:xfrm>
          <a:prstGeom prst="rect">
            <a:avLst/>
          </a:prstGeom>
          <a:noFill/>
          <a:ln/>
        </p:spPr>
        <p:txBody>
          <a:bodyPr wrap="square" lIns="0" tIns="0" rIns="0" bIns="0" rtlCol="0" anchor="ctr"/>
          <a:lstStyle/>
          <a:p>
            <a:pPr indent="0" marL="0">
              <a:buNone/>
            </a:pPr>
            <a:r>
              <a:rPr lang="en-US" sz="1300" dirty="0">
                <a:solidFill>
                  <a:srgbClr val="9BB7C9"/>
                </a:solidFill>
              </a:rPr>
              <a:t>screenshots of real runs</a:t>
            </a:r>
            <a:endParaRPr lang="en-US" sz="1300" dirty="0"/>
          </a:p>
        </p:txBody>
      </p:sp>
      <p:sp>
        <p:nvSpPr>
          <p:cNvPr id="11" name="Text 9"/>
          <p:cNvSpPr txBox="1"/>
          <p:nvPr/>
        </p:nvSpPr>
        <p:spPr>
          <a:xfrm>
            <a:off x="548640" y="3017520"/>
            <a:ext cx="8046720" cy="822960"/>
          </a:xfrm>
          <a:prstGeom prst="rect">
            <a:avLst/>
          </a:prstGeom>
          <a:noFill/>
          <a:ln/>
        </p:spPr>
        <p:txBody>
          <a:bodyPr wrap="square" lIns="0" tIns="0" rIns="0" bIns="0" rtlCol="0" anchor="ctr"/>
          <a:lstStyle/>
          <a:p>
            <a:pPr indent="0" marL="0">
              <a:buNone/>
            </a:pPr>
            <a:r>
              <a:rPr lang="en-US" sz="1300" dirty="0">
                <a:solidFill>
                  <a:srgbClr val="FFFFFF"/>
                </a:solidFill>
              </a:rPr>
              <a:t>Linux, shell scripting, networking, git  |  Docker images, networking, volumes  |  Kubernetes objects, services, ingress, config, storage, HPA, troubleshooting  |  Helm  |  GitHub Actions and DevSecOps  |  Terraform and AWS  |  Monitoring and GitOps</a:t>
            </a:r>
            <a:endParaRPr lang="en-US" sz="1300" dirty="0"/>
          </a:p>
        </p:txBody>
      </p:sp>
      <p:sp>
        <p:nvSpPr>
          <p:cNvPr id="12" name="Text 10"/>
          <p:cNvSpPr txBox="1"/>
          <p:nvPr/>
        </p:nvSpPr>
        <p:spPr>
          <a:xfrm>
            <a:off x="548640" y="3931920"/>
            <a:ext cx="8046720" cy="457200"/>
          </a:xfrm>
          <a:prstGeom prst="rect">
            <a:avLst/>
          </a:prstGeom>
          <a:noFill/>
          <a:ln/>
        </p:spPr>
        <p:txBody>
          <a:bodyPr wrap="square" lIns="0" tIns="0" rIns="0" bIns="0" rtlCol="0" anchor="ctr"/>
          <a:lstStyle/>
          <a:p>
            <a:pPr indent="0" marL="0">
              <a:buNone/>
            </a:pPr>
            <a:r>
              <a:rPr lang="en-US" sz="1200" i="1" dirty="0">
                <a:solidFill>
                  <a:srgbClr val="9BB7C9"/>
                </a:solidFill>
              </a:rPr>
              <a:t>Every session folder has its own README with the commands, their real output and screenshots; the submission links point to them.</a:t>
            </a:r>
            <a:endParaRPr lang="en-US" sz="1200" dirty="0"/>
          </a:p>
        </p:txBody>
      </p:sp>
      <p:sp>
        <p:nvSpPr>
          <p:cNvPr id="13" name="Text 0"/>
          <p:cNvSpPr/>
          <p:nvPr>
            <p:ph idx="100" type="title" hasCustomPrompt="1"/>
          </p:nvPr>
        </p:nvSpPr>
        <p:spPr>
          <a:xfrm>
            <a:off x="548640" y="1737360"/>
            <a:ext cx="8046720" cy="1097280"/>
          </a:xfrm>
          <a:prstGeom prst="rect">
            <a:avLst/>
          </a:prstGeom>
          <a:noFill/>
          <a:ln/>
        </p:spPr>
        <p:txBody>
          <a:bodyPr wrap="square" lIns="0" tIns="0" rIns="0" bIns="0" rtlCol="0"/>
          <a:lstStyle/>
          <a:p>
            <a:pPr algn="l" indent="0" marL="0">
              <a:buNone/>
            </a:pPr>
            <a:endParaRPr lang="en-US" sz="4000" dirty="0"/>
          </a:p>
        </p:txBody>
      </p:sp>
      <p:sp>
        <p:nvSpPr>
          <p:cNvPr id="14" name="Text 0"/>
          <p:cNvSpPr/>
          <p:nvPr>
            <p:ph idx="101" type="body" hasCustomPrompt="1"/>
          </p:nvPr>
        </p:nvSpPr>
        <p:spPr>
          <a:xfrm>
            <a:off x="548640" y="2880360"/>
            <a:ext cx="8046720" cy="1280160"/>
          </a:xfrm>
          <a:prstGeom prst="rect">
            <a:avLst/>
          </a:prstGeom>
          <a:noFill/>
          <a:ln/>
        </p:spPr>
        <p:txBody>
          <a:bodyPr wrap="square" lIns="0" tIns="0" rIns="0" bIns="0" rtlCol="0"/>
          <a:lstStyle/>
          <a:p>
            <a:pPr algn="l" indent="0" marL="0">
              <a:buNone/>
            </a:pP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lstStyle/>
          <a:p>
            <a:pPr algn="l" indent="0" marL="0">
              <a:buNone/>
            </a:pPr>
            <a:r>
              <a:rPr lang="en-US" sz="3000" b="1" dirty="0">
                <a:solidFill>
                  <a:srgbClr val="0B1F33"/>
                </a:solidFill>
              </a:rPr>
              <a:t>Lessons learned</a:t>
            </a:r>
            <a:endParaRPr lang="en-US" sz="3000" dirty="0"/>
          </a:p>
        </p:txBody>
      </p:sp>
      <p:sp>
        <p:nvSpPr>
          <p:cNvPr id="3" name="lesson 0"/>
          <p:cNvSpPr/>
          <p:nvPr/>
        </p:nvSpPr>
        <p:spPr>
          <a:xfrm>
            <a:off x="457200" y="118872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4" name="A gate must bite circle"/>
          <p:cNvSpPr/>
          <p:nvPr/>
        </p:nvSpPr>
        <p:spPr>
          <a:xfrm>
            <a:off x="594360" y="1325880"/>
            <a:ext cx="411480" cy="411480"/>
          </a:xfrm>
          <a:prstGeom prst="ellipse">
            <a:avLst/>
          </a:prstGeom>
          <a:solidFill>
            <a:srgbClr val="1C7293"/>
          </a:solidFill>
          <a:ln w="12700">
            <a:solidFill>
              <a:srgbClr val="1C7293"/>
            </a:solidFill>
            <a:prstDash val="solid"/>
          </a:ln>
        </p:spPr>
      </p:sp>
      <p:pic>
        <p:nvPicPr>
          <p:cNvPr id="5" name="A gate must bite icon" descr="preencoded.png">    </p:cNvPr>
          <p:cNvPicPr>
            <a:picLocks noChangeAspect="1"/>
          </p:cNvPicPr>
          <p:nvPr/>
        </p:nvPicPr>
        <p:blipFill>
          <a:blip r:embed="rId1"/>
          <a:stretch>
            <a:fillRect/>
          </a:stretch>
        </p:blipFill>
        <p:spPr>
          <a:xfrm>
            <a:off x="697230" y="1428750"/>
            <a:ext cx="205740" cy="205740"/>
          </a:xfrm>
          <a:prstGeom prst="rect">
            <a:avLst/>
          </a:prstGeom>
        </p:spPr>
      </p:pic>
      <p:sp>
        <p:nvSpPr>
          <p:cNvPr id="6" name="Text 3"/>
          <p:cNvSpPr txBox="1"/>
          <p:nvPr/>
        </p:nvSpPr>
        <p:spPr>
          <a:xfrm>
            <a:off x="1097280" y="137160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A gate must bite</a:t>
            </a:r>
            <a:endParaRPr lang="en-US" sz="1250" dirty="0"/>
          </a:p>
        </p:txBody>
      </p:sp>
      <p:sp>
        <p:nvSpPr>
          <p:cNvPr id="7" name="Text 4"/>
          <p:cNvSpPr txBox="1"/>
          <p:nvPr/>
        </p:nvSpPr>
        <p:spPr>
          <a:xfrm>
            <a:off x="594360" y="1847088"/>
            <a:ext cx="2377440" cy="868680"/>
          </a:xfrm>
          <a:prstGeom prst="rect">
            <a:avLst/>
          </a:prstGeom>
          <a:noFill/>
          <a:ln/>
        </p:spPr>
        <p:txBody>
          <a:bodyPr wrap="square" lIns="0" tIns="0" rIns="0" bIns="0" rtlCol="0" anchor="ctr"/>
          <a:lstStyle/>
          <a:p>
            <a:pPr indent="0" marL="0">
              <a:buNone/>
            </a:pPr>
            <a:r>
              <a:rPr lang="en-US" sz="1050" dirty="0">
                <a:solidFill>
                  <a:schemeClr val="tx2"/>
                </a:solidFill>
              </a:rPr>
              <a:t>The dependency CVE and the base-image CVEs were real; the pipeline only became green after fixing them.</a:t>
            </a:r>
            <a:endParaRPr lang="en-US" sz="1050" dirty="0"/>
          </a:p>
        </p:txBody>
      </p:sp>
      <p:sp>
        <p:nvSpPr>
          <p:cNvPr id="8" name="lesson 1"/>
          <p:cNvSpPr/>
          <p:nvPr/>
        </p:nvSpPr>
        <p:spPr>
          <a:xfrm>
            <a:off x="3246120" y="118872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9" name="Hardening has side effects circle"/>
          <p:cNvSpPr/>
          <p:nvPr/>
        </p:nvSpPr>
        <p:spPr>
          <a:xfrm>
            <a:off x="3383280" y="1325880"/>
            <a:ext cx="411480" cy="411480"/>
          </a:xfrm>
          <a:prstGeom prst="ellipse">
            <a:avLst/>
          </a:prstGeom>
          <a:solidFill>
            <a:srgbClr val="1C7293"/>
          </a:solidFill>
          <a:ln w="12700">
            <a:solidFill>
              <a:srgbClr val="1C7293"/>
            </a:solidFill>
            <a:prstDash val="solid"/>
          </a:ln>
        </p:spPr>
      </p:sp>
      <p:pic>
        <p:nvPicPr>
          <p:cNvPr id="10" name="Hardening has side effects icon" descr="preencoded.png">    </p:cNvPr>
          <p:cNvPicPr>
            <a:picLocks noChangeAspect="1"/>
          </p:cNvPicPr>
          <p:nvPr/>
        </p:nvPicPr>
        <p:blipFill>
          <a:blip r:embed="rId2"/>
          <a:stretch>
            <a:fillRect/>
          </a:stretch>
        </p:blipFill>
        <p:spPr>
          <a:xfrm>
            <a:off x="3486150" y="1428750"/>
            <a:ext cx="205740" cy="205740"/>
          </a:xfrm>
          <a:prstGeom prst="rect">
            <a:avLst/>
          </a:prstGeom>
        </p:spPr>
      </p:pic>
      <p:sp>
        <p:nvSpPr>
          <p:cNvPr id="11" name="Text 7"/>
          <p:cNvSpPr txBox="1"/>
          <p:nvPr/>
        </p:nvSpPr>
        <p:spPr>
          <a:xfrm>
            <a:off x="3886200" y="137160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Hardening has side effects</a:t>
            </a:r>
            <a:endParaRPr lang="en-US" sz="1250" dirty="0"/>
          </a:p>
        </p:txBody>
      </p:sp>
      <p:sp>
        <p:nvSpPr>
          <p:cNvPr id="12" name="Text 8"/>
          <p:cNvSpPr txBox="1"/>
          <p:nvPr/>
        </p:nvSpPr>
        <p:spPr>
          <a:xfrm>
            <a:off x="3383280" y="1847088"/>
            <a:ext cx="2377440" cy="868680"/>
          </a:xfrm>
          <a:prstGeom prst="rect">
            <a:avLst/>
          </a:prstGeom>
          <a:noFill/>
          <a:ln/>
        </p:spPr>
        <p:txBody>
          <a:bodyPr wrap="square" lIns="0" tIns="0" rIns="0" bIns="0" rtlCol="0" anchor="ctr"/>
          <a:lstStyle/>
          <a:p>
            <a:pPr indent="0" marL="0">
              <a:buNone/>
            </a:pPr>
            <a:r>
              <a:rPr lang="en-US" sz="1050" dirty="0">
                <a:solidFill>
                  <a:schemeClr val="tx2"/>
                </a:solidFill>
              </a:rPr>
              <a:t>readOnlyRootFilesystem broke gunicorn until /tmp became an emptyDir; non-root needs the image to define the user.</a:t>
            </a:r>
            <a:endParaRPr lang="en-US" sz="1050" dirty="0"/>
          </a:p>
        </p:txBody>
      </p:sp>
      <p:sp>
        <p:nvSpPr>
          <p:cNvPr id="13" name="lesson 2"/>
          <p:cNvSpPr/>
          <p:nvPr/>
        </p:nvSpPr>
        <p:spPr>
          <a:xfrm>
            <a:off x="6035040" y="118872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4" name="State shapes the strategy circle"/>
          <p:cNvSpPr/>
          <p:nvPr/>
        </p:nvSpPr>
        <p:spPr>
          <a:xfrm>
            <a:off x="6172200" y="1325880"/>
            <a:ext cx="411480" cy="411480"/>
          </a:xfrm>
          <a:prstGeom prst="ellipse">
            <a:avLst/>
          </a:prstGeom>
          <a:solidFill>
            <a:srgbClr val="1C7293"/>
          </a:solidFill>
          <a:ln w="12700">
            <a:solidFill>
              <a:srgbClr val="1C7293"/>
            </a:solidFill>
            <a:prstDash val="solid"/>
          </a:ln>
        </p:spPr>
      </p:sp>
      <p:pic>
        <p:nvPicPr>
          <p:cNvPr id="15" name="State shapes the strategy icon" descr="preencoded.png">    </p:cNvPr>
          <p:cNvPicPr>
            <a:picLocks noChangeAspect="1"/>
          </p:cNvPicPr>
          <p:nvPr/>
        </p:nvPicPr>
        <p:blipFill>
          <a:blip r:embed="rId3"/>
          <a:stretch>
            <a:fillRect/>
          </a:stretch>
        </p:blipFill>
        <p:spPr>
          <a:xfrm>
            <a:off x="6275070" y="1428750"/>
            <a:ext cx="205740" cy="205740"/>
          </a:xfrm>
          <a:prstGeom prst="rect">
            <a:avLst/>
          </a:prstGeom>
        </p:spPr>
      </p:pic>
      <p:sp>
        <p:nvSpPr>
          <p:cNvPr id="16" name="Text 11"/>
          <p:cNvSpPr txBox="1"/>
          <p:nvPr/>
        </p:nvSpPr>
        <p:spPr>
          <a:xfrm>
            <a:off x="6675120" y="137160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State shapes the strategy</a:t>
            </a:r>
            <a:endParaRPr lang="en-US" sz="1250" dirty="0"/>
          </a:p>
        </p:txBody>
      </p:sp>
      <p:sp>
        <p:nvSpPr>
          <p:cNvPr id="17" name="Text 12"/>
          <p:cNvSpPr txBox="1"/>
          <p:nvPr/>
        </p:nvSpPr>
        <p:spPr>
          <a:xfrm>
            <a:off x="6172200" y="1847088"/>
            <a:ext cx="2377440" cy="868680"/>
          </a:xfrm>
          <a:prstGeom prst="rect">
            <a:avLst/>
          </a:prstGeom>
          <a:noFill/>
          <a:ln/>
        </p:spPr>
        <p:txBody>
          <a:bodyPr wrap="square" lIns="0" tIns="0" rIns="0" bIns="0" rtlCol="0" anchor="ctr"/>
          <a:lstStyle/>
          <a:p>
            <a:pPr indent="0" marL="0">
              <a:buNone/>
            </a:pPr>
            <a:r>
              <a:rPr lang="en-US" sz="1050" dirty="0">
                <a:solidFill>
                  <a:schemeClr val="tx2"/>
                </a:solidFill>
              </a:rPr>
              <a:t>A ReadWriteOnce PVC forces Recreate or a single writer; a real database belongs outside the Pod.</a:t>
            </a:r>
            <a:endParaRPr lang="en-US" sz="1050" dirty="0"/>
          </a:p>
        </p:txBody>
      </p:sp>
      <p:sp>
        <p:nvSpPr>
          <p:cNvPr id="18" name="lesson 3"/>
          <p:cNvSpPr/>
          <p:nvPr/>
        </p:nvSpPr>
        <p:spPr>
          <a:xfrm>
            <a:off x="457200" y="288036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19" name="Test the pipeline before pushing circle"/>
          <p:cNvSpPr/>
          <p:nvPr/>
        </p:nvSpPr>
        <p:spPr>
          <a:xfrm>
            <a:off x="594360" y="3017520"/>
            <a:ext cx="411480" cy="411480"/>
          </a:xfrm>
          <a:prstGeom prst="ellipse">
            <a:avLst/>
          </a:prstGeom>
          <a:solidFill>
            <a:srgbClr val="1C7293"/>
          </a:solidFill>
          <a:ln w="12700">
            <a:solidFill>
              <a:srgbClr val="1C7293"/>
            </a:solidFill>
            <a:prstDash val="solid"/>
          </a:ln>
        </p:spPr>
      </p:sp>
      <p:pic>
        <p:nvPicPr>
          <p:cNvPr id="20" name="Test the pipeline before pushing icon" descr="preencoded.png">    </p:cNvPr>
          <p:cNvPicPr>
            <a:picLocks noChangeAspect="1"/>
          </p:cNvPicPr>
          <p:nvPr/>
        </p:nvPicPr>
        <p:blipFill>
          <a:blip r:embed="rId4"/>
          <a:stretch>
            <a:fillRect/>
          </a:stretch>
        </p:blipFill>
        <p:spPr>
          <a:xfrm>
            <a:off x="697230" y="3120390"/>
            <a:ext cx="205740" cy="205740"/>
          </a:xfrm>
          <a:prstGeom prst="rect">
            <a:avLst/>
          </a:prstGeom>
        </p:spPr>
      </p:pic>
      <p:sp>
        <p:nvSpPr>
          <p:cNvPr id="21" name="Text 15"/>
          <p:cNvSpPr txBox="1"/>
          <p:nvPr/>
        </p:nvSpPr>
        <p:spPr>
          <a:xfrm>
            <a:off x="1097280" y="306324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Test the pipeline before pushing</a:t>
            </a:r>
            <a:endParaRPr lang="en-US" sz="1250" dirty="0"/>
          </a:p>
        </p:txBody>
      </p:sp>
      <p:sp>
        <p:nvSpPr>
          <p:cNvPr id="22" name="Text 16"/>
          <p:cNvSpPr txBox="1"/>
          <p:nvPr/>
        </p:nvSpPr>
        <p:spPr>
          <a:xfrm>
            <a:off x="594360" y="3538728"/>
            <a:ext cx="2377440" cy="868680"/>
          </a:xfrm>
          <a:prstGeom prst="rect">
            <a:avLst/>
          </a:prstGeom>
          <a:noFill/>
          <a:ln/>
        </p:spPr>
        <p:txBody>
          <a:bodyPr wrap="square" lIns="0" tIns="0" rIns="0" bIns="0" rtlCol="0" anchor="ctr"/>
          <a:lstStyle/>
          <a:p>
            <a:pPr indent="0" marL="0">
              <a:buNone/>
            </a:pPr>
            <a:r>
              <a:rPr lang="en-US" sz="1050" dirty="0">
                <a:solidFill>
                  <a:schemeClr val="tx2"/>
                </a:solidFill>
              </a:rPr>
              <a:t>act runs the workflow locally; GitHub-only actions need conditional fallbacks.</a:t>
            </a:r>
            <a:endParaRPr lang="en-US" sz="1050" dirty="0"/>
          </a:p>
        </p:txBody>
      </p:sp>
      <p:sp>
        <p:nvSpPr>
          <p:cNvPr id="23" name="lesson 4"/>
          <p:cNvSpPr/>
          <p:nvPr/>
        </p:nvSpPr>
        <p:spPr>
          <a:xfrm>
            <a:off x="3246120" y="288036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4" name="Plan, apply, destroy circle"/>
          <p:cNvSpPr/>
          <p:nvPr/>
        </p:nvSpPr>
        <p:spPr>
          <a:xfrm>
            <a:off x="3383280" y="3017520"/>
            <a:ext cx="411480" cy="411480"/>
          </a:xfrm>
          <a:prstGeom prst="ellipse">
            <a:avLst/>
          </a:prstGeom>
          <a:solidFill>
            <a:srgbClr val="1C7293"/>
          </a:solidFill>
          <a:ln w="12700">
            <a:solidFill>
              <a:srgbClr val="1C7293"/>
            </a:solidFill>
            <a:prstDash val="solid"/>
          </a:ln>
        </p:spPr>
      </p:sp>
      <p:pic>
        <p:nvPicPr>
          <p:cNvPr id="25" name="Plan, apply, destroy icon" descr="preencoded.png">    </p:cNvPr>
          <p:cNvPicPr>
            <a:picLocks noChangeAspect="1"/>
          </p:cNvPicPr>
          <p:nvPr/>
        </p:nvPicPr>
        <p:blipFill>
          <a:blip r:embed="rId5"/>
          <a:stretch>
            <a:fillRect/>
          </a:stretch>
        </p:blipFill>
        <p:spPr>
          <a:xfrm>
            <a:off x="3486150" y="3120390"/>
            <a:ext cx="205740" cy="205740"/>
          </a:xfrm>
          <a:prstGeom prst="rect">
            <a:avLst/>
          </a:prstGeom>
        </p:spPr>
      </p:pic>
      <p:sp>
        <p:nvSpPr>
          <p:cNvPr id="26" name="Text 19"/>
          <p:cNvSpPr txBox="1"/>
          <p:nvPr/>
        </p:nvSpPr>
        <p:spPr>
          <a:xfrm>
            <a:off x="3886200" y="306324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Plan, apply, destroy</a:t>
            </a:r>
            <a:endParaRPr lang="en-US" sz="1250" dirty="0"/>
          </a:p>
        </p:txBody>
      </p:sp>
      <p:sp>
        <p:nvSpPr>
          <p:cNvPr id="27" name="Text 20"/>
          <p:cNvSpPr txBox="1"/>
          <p:nvPr/>
        </p:nvSpPr>
        <p:spPr>
          <a:xfrm>
            <a:off x="3383280" y="3538728"/>
            <a:ext cx="2377440" cy="868680"/>
          </a:xfrm>
          <a:prstGeom prst="rect">
            <a:avLst/>
          </a:prstGeom>
          <a:noFill/>
          <a:ln/>
        </p:spPr>
        <p:txBody>
          <a:bodyPr wrap="square" lIns="0" tIns="0" rIns="0" bIns="0" rtlCol="0" anchor="ctr"/>
          <a:lstStyle/>
          <a:p>
            <a:pPr indent="0" marL="0">
              <a:buNone/>
            </a:pPr>
            <a:r>
              <a:rPr lang="en-US" sz="1050" dirty="0">
                <a:solidFill>
                  <a:schemeClr val="tx2"/>
                </a:solidFill>
              </a:rPr>
              <a:t>Terraform experiments cost nothing when every apply ends with destroy.</a:t>
            </a:r>
            <a:endParaRPr lang="en-US" sz="1050" dirty="0"/>
          </a:p>
        </p:txBody>
      </p:sp>
      <p:sp>
        <p:nvSpPr>
          <p:cNvPr id="28" name="lesson 5"/>
          <p:cNvSpPr/>
          <p:nvPr/>
        </p:nvSpPr>
        <p:spPr>
          <a:xfrm>
            <a:off x="6035040" y="2880360"/>
            <a:ext cx="2651760" cy="1554480"/>
          </a:xfrm>
          <a:prstGeom prst="roundRect">
            <a:avLst>
              <a:gd name="adj" fmla="val 4706"/>
            </a:avLst>
          </a:prstGeom>
          <a:solidFill>
            <a:schemeClr val="bg2"/>
          </a:solidFill>
          <a:ln w="6350">
            <a:solidFill>
              <a:schemeClr val="bg2"/>
            </a:solidFill>
            <a:prstDash val="solid"/>
          </a:ln>
          <a:effectLst>
            <a:outerShdw sx="100000" sy="100000" kx="0" ky="0" algn="bl" rotWithShape="0" blurRad="50800" dist="19050" dir="5400000">
              <a:srgbClr val="000000">
                <a:alpha val="12000"/>
              </a:srgbClr>
            </a:outerShdw>
          </a:effectLst>
        </p:spPr>
      </p:sp>
      <p:sp>
        <p:nvSpPr>
          <p:cNvPr id="29" name="Git as the source of truth circle"/>
          <p:cNvSpPr/>
          <p:nvPr/>
        </p:nvSpPr>
        <p:spPr>
          <a:xfrm>
            <a:off x="6172200" y="3017520"/>
            <a:ext cx="411480" cy="411480"/>
          </a:xfrm>
          <a:prstGeom prst="ellipse">
            <a:avLst/>
          </a:prstGeom>
          <a:solidFill>
            <a:srgbClr val="1C7293"/>
          </a:solidFill>
          <a:ln w="12700">
            <a:solidFill>
              <a:srgbClr val="1C7293"/>
            </a:solidFill>
            <a:prstDash val="solid"/>
          </a:ln>
        </p:spPr>
      </p:sp>
      <p:pic>
        <p:nvPicPr>
          <p:cNvPr id="30" name="Git as the source of truth icon" descr="preencoded.png">    </p:cNvPr>
          <p:cNvPicPr>
            <a:picLocks noChangeAspect="1"/>
          </p:cNvPicPr>
          <p:nvPr/>
        </p:nvPicPr>
        <p:blipFill>
          <a:blip r:embed="rId6"/>
          <a:stretch>
            <a:fillRect/>
          </a:stretch>
        </p:blipFill>
        <p:spPr>
          <a:xfrm>
            <a:off x="6275070" y="3120390"/>
            <a:ext cx="205740" cy="205740"/>
          </a:xfrm>
          <a:prstGeom prst="rect">
            <a:avLst/>
          </a:prstGeom>
        </p:spPr>
      </p:pic>
      <p:sp>
        <p:nvSpPr>
          <p:cNvPr id="31" name="Text 23"/>
          <p:cNvSpPr txBox="1"/>
          <p:nvPr/>
        </p:nvSpPr>
        <p:spPr>
          <a:xfrm>
            <a:off x="6675120" y="3063240"/>
            <a:ext cx="1920240" cy="320040"/>
          </a:xfrm>
          <a:prstGeom prst="rect">
            <a:avLst/>
          </a:prstGeom>
          <a:noFill/>
          <a:ln/>
        </p:spPr>
        <p:txBody>
          <a:bodyPr wrap="square" lIns="0" tIns="0" rIns="0" bIns="0" rtlCol="0" anchor="ctr"/>
          <a:lstStyle/>
          <a:p>
            <a:pPr indent="0" marL="0">
              <a:buNone/>
            </a:pPr>
            <a:r>
              <a:rPr lang="en-US" sz="1250" b="1" dirty="0">
                <a:solidFill>
                  <a:schemeClr val="tx1"/>
                </a:solidFill>
              </a:rPr>
              <a:t>Git as the source of truth</a:t>
            </a:r>
            <a:endParaRPr lang="en-US" sz="1250" dirty="0"/>
          </a:p>
        </p:txBody>
      </p:sp>
      <p:sp>
        <p:nvSpPr>
          <p:cNvPr id="32" name="Text 24"/>
          <p:cNvSpPr txBox="1"/>
          <p:nvPr/>
        </p:nvSpPr>
        <p:spPr>
          <a:xfrm>
            <a:off x="6172200" y="3538728"/>
            <a:ext cx="2377440" cy="868680"/>
          </a:xfrm>
          <a:prstGeom prst="rect">
            <a:avLst/>
          </a:prstGeom>
          <a:noFill/>
          <a:ln/>
        </p:spPr>
        <p:txBody>
          <a:bodyPr wrap="square" lIns="0" tIns="0" rIns="0" bIns="0" rtlCol="0" anchor="ctr"/>
          <a:lstStyle/>
          <a:p>
            <a:pPr indent="0" marL="0">
              <a:buNone/>
            </a:pPr>
            <a:r>
              <a:rPr lang="en-US" sz="1050" dirty="0">
                <a:solidFill>
                  <a:schemeClr val="tx2"/>
                </a:solidFill>
              </a:rPr>
              <a:t>Argo CD turns drift into a non-event: the cluster converges back to what is committed.</a:t>
            </a:r>
            <a:endParaRPr lang="en-US" sz="10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BB7C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video circle"/>
          <p:cNvSpPr/>
          <p:nvPr/>
        </p:nvSpPr>
        <p:spPr>
          <a:xfrm>
            <a:off x="548640" y="640080"/>
            <a:ext cx="822960" cy="822960"/>
          </a:xfrm>
          <a:prstGeom prst="ellipse">
            <a:avLst/>
          </a:prstGeom>
          <a:solidFill>
            <a:srgbClr val="02C39A"/>
          </a:solidFill>
          <a:ln w="12700">
            <a:solidFill>
              <a:srgbClr val="02C39A"/>
            </a:solidFill>
            <a:prstDash val="solid"/>
          </a:ln>
        </p:spPr>
      </p:sp>
      <p:pic>
        <p:nvPicPr>
          <p:cNvPr id="3" name="video icon" descr="preencoded.png">    </p:cNvPr>
          <p:cNvPicPr>
            <a:picLocks noChangeAspect="1"/>
          </p:cNvPicPr>
          <p:nvPr/>
        </p:nvPicPr>
        <p:blipFill>
          <a:blip r:embed="rId1"/>
          <a:stretch>
            <a:fillRect/>
          </a:stretch>
        </p:blipFill>
        <p:spPr>
          <a:xfrm>
            <a:off x="754380" y="845820"/>
            <a:ext cx="411480" cy="411480"/>
          </a:xfrm>
          <a:prstGeom prst="rect">
            <a:avLst/>
          </a:prstGeom>
        </p:spPr>
      </p:pic>
      <p:sp>
        <p:nvSpPr>
          <p:cNvPr id="4" name="Text 0"/>
          <p:cNvSpPr/>
          <p:nvPr>
            <p:ph idx="100" type="title" hasCustomPrompt="1"/>
          </p:nvPr>
        </p:nvSpPr>
        <p:spPr>
          <a:xfrm>
            <a:off x="548640" y="1737360"/>
            <a:ext cx="8046720" cy="1097280"/>
          </a:xfrm>
          <a:prstGeom prst="rect">
            <a:avLst/>
          </a:prstGeom>
          <a:noFill/>
          <a:ln/>
        </p:spPr>
        <p:txBody>
          <a:bodyPr wrap="square" lIns="0" tIns="0" rIns="0" bIns="0" rtlCol="0"/>
          <a:lstStyle/>
          <a:p>
            <a:pPr algn="l" indent="0" marL="0">
              <a:buNone/>
            </a:pPr>
            <a:r>
              <a:rPr lang="en-US" sz="4000" b="1" dirty="0">
                <a:solidFill>
                  <a:srgbClr val="FFFFFF"/>
                </a:solidFill>
              </a:rPr>
              <a:t>Demo and repository</a:t>
            </a:r>
            <a:endParaRPr lang="en-US" sz="4000" dirty="0"/>
          </a:p>
        </p:txBody>
      </p:sp>
      <p:sp>
        <p:nvSpPr>
          <p:cNvPr id="5" name="Text 0"/>
          <p:cNvSpPr/>
          <p:nvPr>
            <p:ph idx="101" type="body" hasCustomPrompt="1"/>
          </p:nvPr>
        </p:nvSpPr>
        <p:spPr>
          <a:xfrm>
            <a:off x="548640" y="2880360"/>
            <a:ext cx="8046720" cy="1280160"/>
          </a:xfrm>
          <a:prstGeom prst="rect">
            <a:avLst/>
          </a:prstGeom>
          <a:noFill/>
          <a:ln/>
        </p:spPr>
        <p:txBody>
          <a:bodyPr wrap="square" lIns="0" tIns="0" rIns="0" bIns="0" rtlCol="0"/>
          <a:lstStyle/>
          <a:p>
            <a:pPr algn="l" indent="0" marL="0">
              <a:buNone/>
            </a:pPr>
            <a:r>
              <a:rPr lang="en-US" sz="1800" dirty="0">
                <a:solidFill>
                  <a:srgbClr val="9BB7C9"/>
                </a:solidFill>
              </a:rPr>
              <a:t>Repository: github.com/vivek-0509/Devops_Final_Assignment_N_Project</a:t>
            </a:r>
            <a:endParaRPr lang="en-US" sz="1800" dirty="0"/>
          </a:p>
          <a:p>
            <a:pPr algn="l" indent="0" marL="0">
              <a:buNone/>
            </a:pPr>
            <a:r>
              <a:rPr lang="en-US" sz="1800" dirty="0">
                <a:solidFill>
                  <a:srgbClr val="9BB7C9"/>
                </a:solidFill>
              </a:rPr>
              <a:t>Presentation video: demo/ folder (see demo/README.md for the link)</a:t>
            </a:r>
            <a:endParaRPr lang="en-US" sz="1800" dirty="0"/>
          </a:p>
          <a:p>
            <a:pPr algn="l" indent="0" marL="0">
              <a:buNone/>
            </a:pPr>
            <a:r>
              <a:rPr lang="en-US" sz="1800" dirty="0">
                <a:solidFill>
                  <a:srgbClr val="9BB7C9"/>
                </a:solidFill>
              </a:rPr>
              <a:t>Project README: session-21-final-devops-project/final-devops-project/README.md</a:t>
            </a:r>
            <a:endParaRPr lang="en-US" sz="1800" dirty="0"/>
          </a:p>
          <a:p>
            <a:pPr algn="l" indent="0" marL="0">
              <a:buNone/>
            </a:pPr>
            <a:r>
              <a:rPr lang="en-US" sz="1800" b="1" dirty="0">
                <a:solidFill>
                  <a:srgbClr val="02C39A"/>
                </a:solidFill>
              </a:rPr>
              <a:t>Thank you. Questions welcome.</a:t>
            </a:r>
            <a:endParaRPr lang="en-US" sz="1800" dirty="0"/>
          </a:p>
        </p:txBody>
      </p:sp>
      <p:sp>
        <p:nvSpPr>
          <p:cNvPr id="6" name="Text 3"/>
          <p:cNvSpPr txBox="1"/>
          <p:nvPr/>
        </p:nvSpPr>
        <p:spPr>
          <a:xfrm>
            <a:off x="548640" y="4480560"/>
            <a:ext cx="7315200" cy="274320"/>
          </a:xfrm>
          <a:prstGeom prst="rect">
            <a:avLst/>
          </a:prstGeom>
          <a:noFill/>
          <a:ln/>
        </p:spPr>
        <p:txBody>
          <a:bodyPr wrap="square" lIns="0" tIns="0" rIns="0" bIns="0" rtlCol="0" anchor="ctr"/>
          <a:lstStyle/>
          <a:p>
            <a:pPr indent="0" marL="0">
              <a:buNone/>
            </a:pPr>
            <a:r>
              <a:rPr lang="en-US" sz="1100" dirty="0">
                <a:solidFill>
                  <a:srgbClr val="9BB7C9"/>
                </a:solidFill>
              </a:rPr>
              <a:t>Vivek Singh Solanki  |  24bcs10338</a:t>
            </a:r>
            <a:endParaRPr lang="en-US" sz="1100" dirty="0"/>
          </a:p>
        </p:txBody>
      </p:sp>
    </p:spTree>
  </p:cSld>
  <p:clrMapOvr>
    <a:masterClrMapping/>
  </p:clrMapOvr>
</p:sld>
</file>

<file path=ppt/theme/theme1.xml><?xml version="1.0" encoding="utf-8"?>
<a:theme xmlns:a="http://schemas.openxmlformats.org/drawingml/2006/main" name="TaskBoard DevOps">
  <a:themeElements>
    <a:clrScheme name="TaskBoard DevOps">
      <a:dk1>
        <a:srgbClr val="0B1F33"/>
      </a:dk1>
      <a:lt1>
        <a:srgbClr val="FFFFFF"/>
      </a:lt1>
      <a:dk2>
        <a:srgbClr val="1C7293"/>
      </a:dk2>
      <a:lt2>
        <a:srgbClr val="EAF2F6"/>
      </a:lt2>
      <a:accent1>
        <a:srgbClr val="02C39A"/>
      </a:accent1>
      <a:accent2>
        <a:srgbClr val="F6AE2D"/>
      </a:accent2>
      <a:accent3>
        <a:srgbClr val="1C7293"/>
      </a:accent3>
      <a:accent4>
        <a:srgbClr val="065A82"/>
      </a:accent4>
      <a:accent5>
        <a:srgbClr val="E06C75"/>
      </a:accent5>
      <a:accent6>
        <a:srgbClr val="9BB7C9"/>
      </a:accent6>
      <a:hlink>
        <a:srgbClr val="02C39A"/>
      </a:hlink>
      <a:folHlink>
        <a:srgbClr val="9BB7C9"/>
      </a:folHlink>
    </a:clrScheme>
    <a:fontScheme name="TaskBoard Dev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Lite - Final DevOps Project</dc:title>
  <dc:subject>PptxGenJS Presentation</dc:subject>
  <dc:creator>Vivek Singh Solanki</dc:creator>
  <cp:lastModifiedBy>Vivek Singh Solanki</cp:lastModifiedBy>
  <cp:revision>1</cp:revision>
  <dcterms:created xsi:type="dcterms:W3CDTF">2026-10-26T08:51:40Z</dcterms:created>
  <dcterms:modified xsi:type="dcterms:W3CDTF">2026-10-26T08:51:40Z</dcterms:modified>
</cp:coreProperties>
</file>